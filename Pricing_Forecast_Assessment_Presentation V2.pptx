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8" r:id="rId16"/>
    <p:sldId id="271" r:id="rId17"/>
    <p:sldId id="274" r:id="rId18"/>
    <p:sldId id="273" r:id="rId19"/>
    <p:sldId id="275" r:id="rId20"/>
    <p:sldId id="276" r:id="rId21"/>
    <p:sldId id="27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468F0A-6794-8AB7-D5F8-B09E2AB90DE7}" v="13" dt="2026-10-20T10:13:44.356"/>
    <p1510:client id="{78A2A23C-AEC6-C86E-BE98-5A427936BB95}" v="59" dt="2026-10-20T03:13:27.767"/>
    <p1510:client id="{D1CCD778-5869-251E-AA73-806A07F76F88}" v="24" dt="2026-10-20T04:07:16.3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6" d="100"/>
          <a:sy n="116" d="100"/>
        </p:scale>
        <p:origin x="24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7E7B10-952C-42AF-A4A0-4F7D2A298A6F}" type="datetimeFigureOut">
              <a:t>2026/10/20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F95879-B894-4DBF-B3D2-031959FECA84}" type="slidenum"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5661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5EAC2-D86E-3778-0437-5CA08EDB9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3E11C0-E0A3-821B-B16F-8695FADF6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B08B86-76CD-C679-14F0-990D48B249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869FD-0230-51D8-E70E-26026762EF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3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19B3B-7831-DDAD-A88E-B816CD593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CF2B65-3061-9474-8335-4495D344C4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54B7F7-9499-78DA-8604-698692513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3C175-E434-9F0D-34A9-456DA99011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2049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FE717-BD4A-956B-5267-9E96AB646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75471A-5889-4CCF-3091-7B9B7F7877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C79C83-A437-4270-87B0-1137D4BA2F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A9F998-796A-FA6F-EECA-6BF26569BF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2113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7B871-3D11-57ED-9044-B24FD0941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7710FD-D33C-A94D-CF7E-23C559B87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F91E0E-0FD0-FD12-ED0D-65D50DC98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05A95-C2C9-DB89-4939-0664B44573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4880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FD12C-6968-6241-FD9F-3D1055310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F85AF8-BBAC-D9B2-1F50-BDB473021B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A92E79-5BC0-2DA3-E62C-7F9C911CE0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5C9277-41C3-B972-B7FB-D85C961E19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3732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35EC0-BE99-DC2C-FC04-20BA739AE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4DB79-7C7F-EA59-2217-74CEC9505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71E69D-41A9-1645-7DEC-C2A325013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ADDA4E-1750-BA26-37CB-A421B9D0F9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1533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33598-B0E6-37DD-193C-AA9D36F45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27C8A-58F2-14C9-5786-142A9CAA2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DB0122-1E6D-84F3-644B-1075516402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FCE97B-5F69-8E7B-B50E-828A28F97E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607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>
                <a:solidFill>
                  <a:srgbClr val="000000"/>
                </a:solidFill>
                <a:latin typeface="Cambria"/>
                <a:ea typeface="Cambria"/>
              </a:rPr>
              <a:t>Pricing Forecast Capability Assessment</a:t>
            </a:r>
            <a:br>
              <a:rPr lang="en-US" sz="2800" b="1">
                <a:latin typeface="Cambria"/>
                <a:ea typeface="Cambria"/>
              </a:rPr>
            </a:br>
            <a:r>
              <a:rPr lang="en-US" sz="2800" b="1">
                <a:solidFill>
                  <a:srgbClr val="000000"/>
                </a:solidFill>
                <a:latin typeface="Cambria"/>
                <a:ea typeface="Cambria"/>
              </a:rPr>
              <a:t>of Linear Regression, ARIMA, Random Forest and LSTM Models</a:t>
            </a:r>
            <a:endParaRPr lang="en-US" sz="2800">
              <a:highlight>
                <a:srgbClr val="606060"/>
              </a:highlight>
              <a:latin typeface="Cambria"/>
              <a:ea typeface="Cambria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2743200" cy="0"/>
          </a:xfrm>
          <a:prstGeom prst="line">
            <a:avLst/>
          </a:prstGeom>
          <a:noFill/>
          <a:ln w="254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2C3E50"/>
                </a:solidFill>
                <a:ea typeface="+mn-lt"/>
                <a:cs typeface="+mn-lt"/>
              </a:rPr>
              <a:t>Cheng Ying Yu, Ku Ho Kat, Pong Zhun Log, Wong Sai Cheong </a:t>
            </a:r>
            <a:endParaRPr lang="en-US" altLang="zh-TW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Python Data Analysis (CT298)</a:t>
            </a:r>
            <a:endParaRPr lang="en-US" sz="1300"/>
          </a:p>
          <a:p>
            <a:pPr marL="0" indent="0">
              <a:buNone/>
            </a:pPr>
            <a:r>
              <a:rPr lang="en-US" sz="13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Submission Date: 21 October 2026</a:t>
            </a:r>
            <a:endParaRPr lang="en-US" sz="13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137160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640080" y="13898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1371600" y="13898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Objectives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640080" y="186537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1371600" y="186537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&amp; Methodology</a:t>
            </a:r>
            <a:endParaRPr lang="en-US" sz="1600"/>
          </a:p>
        </p:txBody>
      </p:sp>
      <p:sp>
        <p:nvSpPr>
          <p:cNvPr id="16" name="Text 14"/>
          <p:cNvSpPr/>
          <p:nvPr/>
        </p:nvSpPr>
        <p:spPr>
          <a:xfrm>
            <a:off x="640080" y="234086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1371600" y="234086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Architectures</a:t>
            </a:r>
            <a:endParaRPr lang="en-US" sz="1600"/>
          </a:p>
        </p:txBody>
      </p:sp>
      <p:sp>
        <p:nvSpPr>
          <p:cNvPr id="19" name="Text 17"/>
          <p:cNvSpPr/>
          <p:nvPr/>
        </p:nvSpPr>
        <p:spPr>
          <a:xfrm>
            <a:off x="640080" y="28163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/>
          </a:p>
        </p:txBody>
      </p:sp>
      <p:sp>
        <p:nvSpPr>
          <p:cNvPr id="20" name="Text 18"/>
          <p:cNvSpPr/>
          <p:nvPr/>
        </p:nvSpPr>
        <p:spPr>
          <a:xfrm>
            <a:off x="1371600" y="28163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Performance Comparison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640080" y="32918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/>
          </a:p>
        </p:txBody>
      </p:sp>
      <p:sp>
        <p:nvSpPr>
          <p:cNvPr id="23" name="Text 21"/>
          <p:cNvSpPr/>
          <p:nvPr/>
        </p:nvSpPr>
        <p:spPr>
          <a:xfrm>
            <a:off x="13716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&amp; Conclusion</a:t>
            </a:r>
            <a:endParaRPr lang="en-US" sz="1600"/>
          </a:p>
        </p:txBody>
      </p:sp>
      <p:sp>
        <p:nvSpPr>
          <p:cNvPr id="25" name="Text 23"/>
          <p:cNvSpPr/>
          <p:nvPr/>
        </p:nvSpPr>
        <p:spPr>
          <a:xfrm>
            <a:off x="640080" y="3767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/>
          </a:p>
        </p:txBody>
      </p:sp>
      <p:sp>
        <p:nvSpPr>
          <p:cNvPr id="26" name="Text 24"/>
          <p:cNvSpPr/>
          <p:nvPr/>
        </p:nvSpPr>
        <p:spPr>
          <a:xfrm>
            <a:off x="1371600" y="3767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Executive Summary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forecasting models evaluated on five financial assets</a:t>
            </a:r>
            <a:endParaRPr lang="en-US" sz="150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109728" cy="502920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9" name="Shape 7"/>
          <p:cNvSpPr/>
          <p:nvPr/>
        </p:nvSpPr>
        <p:spPr>
          <a:xfrm>
            <a:off x="566928" y="1280160"/>
            <a:ext cx="79552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HK" altLang="en-US"/>
          </a:p>
        </p:txBody>
      </p:sp>
      <p:sp>
        <p:nvSpPr>
          <p:cNvPr id="10" name="Text 8"/>
          <p:cNvSpPr/>
          <p:nvPr/>
        </p:nvSpPr>
        <p:spPr>
          <a:xfrm>
            <a:off x="777240" y="1325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356616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overall on S&amp;P 500, 0388.HK, 0005.HK</a:t>
            </a:r>
            <a:endParaRPr lang="en-US" sz="140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109728" cy="5029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3" name="Shape 11"/>
          <p:cNvSpPr/>
          <p:nvPr/>
        </p:nvSpPr>
        <p:spPr>
          <a:xfrm>
            <a:off x="566928" y="1920240"/>
            <a:ext cx="79552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HK" altLang="en-US"/>
          </a:p>
        </p:txBody>
      </p:sp>
      <p:sp>
        <p:nvSpPr>
          <p:cNvPr id="14" name="Text 12"/>
          <p:cNvSpPr/>
          <p:nvPr/>
        </p:nvSpPr>
        <p:spPr>
          <a:xfrm>
            <a:off x="777240" y="207123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Autoregressive Integrated Moving Average (ARIMA)</a:t>
            </a:r>
            <a:endParaRPr lang="en-US" sz="14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1400" b="1" dirty="0">
              <a:solidFill>
                <a:srgbClr val="1A2332"/>
              </a:solidFill>
              <a:ea typeface="Calibri"/>
              <a:cs typeface="Calibri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566160" y="19659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results for S&amp;P 500 Index</a:t>
            </a:r>
            <a:endParaRPr lang="en-US" sz="140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09728" cy="50292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7" name="Shape 15"/>
          <p:cNvSpPr/>
          <p:nvPr/>
        </p:nvSpPr>
        <p:spPr>
          <a:xfrm>
            <a:off x="566928" y="2560320"/>
            <a:ext cx="79552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HK" altLang="en-US"/>
          </a:p>
        </p:txBody>
      </p:sp>
      <p:sp>
        <p:nvSpPr>
          <p:cNvPr id="18" name="Text 16"/>
          <p:cNvSpPr/>
          <p:nvPr/>
        </p:nvSpPr>
        <p:spPr>
          <a:xfrm>
            <a:off x="777240" y="273387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Long Short-Term Memory (LSTM)</a:t>
            </a:r>
            <a:endParaRPr lang="en-US" sz="14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1400" b="1" dirty="0">
              <a:solidFill>
                <a:srgbClr val="1A2332"/>
              </a:solidFill>
              <a:ea typeface="Calibri"/>
              <a:cs typeface="Calibri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566160" y="26060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Outperformed on 0386.HK (nonlinear patterns)</a:t>
            </a:r>
            <a:endParaRPr lang="en-US" sz="1400"/>
          </a:p>
        </p:txBody>
      </p:sp>
      <p:sp>
        <p:nvSpPr>
          <p:cNvPr id="20" name="Shape 18"/>
          <p:cNvSpPr/>
          <p:nvPr/>
        </p:nvSpPr>
        <p:spPr>
          <a:xfrm>
            <a:off x="457200" y="3200400"/>
            <a:ext cx="109728" cy="50292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1" name="Shape 19"/>
          <p:cNvSpPr/>
          <p:nvPr/>
        </p:nvSpPr>
        <p:spPr>
          <a:xfrm>
            <a:off x="566928" y="3200400"/>
            <a:ext cx="79552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HK" altLang="en-US"/>
          </a:p>
        </p:txBody>
      </p:sp>
      <p:sp>
        <p:nvSpPr>
          <p:cNvPr id="22" name="Text 20"/>
          <p:cNvSpPr/>
          <p:nvPr/>
        </p:nvSpPr>
        <p:spPr>
          <a:xfrm>
            <a:off x="777240" y="3246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3566160" y="3246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accurate forecasts for HSI</a:t>
            </a:r>
            <a:endParaRPr lang="en-US" sz="1400"/>
          </a:p>
        </p:txBody>
      </p:sp>
      <p:sp>
        <p:nvSpPr>
          <p:cNvPr id="24" name="Text 22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No single model dominated → Hybrid framework recommended</a:t>
            </a:r>
            <a:endParaRPr lang="en-US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Introduction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Price Forecasting Matters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Identify market opportunities and improve asset allocation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Manage downside risks in portfolio construction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Support informed investment decision-making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548640" y="26060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markets exhibit non-linearity, volatility clustering, structural breaks, and external shocks — making accurate forecasting difficult.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 Compared</a:t>
            </a:r>
            <a:endParaRPr lang="en-US" sz="160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5" name="Text 13"/>
          <p:cNvSpPr/>
          <p:nvPr/>
        </p:nvSpPr>
        <p:spPr>
          <a:xfrm>
            <a:off x="548640" y="3703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54864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baseline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2560320" y="36118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8" name="Text 16"/>
          <p:cNvSpPr/>
          <p:nvPr/>
        </p:nvSpPr>
        <p:spPr>
          <a:xfrm>
            <a:off x="2651760" y="3703320"/>
            <a:ext cx="18808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Autoregressive Integrated </a:t>
            </a:r>
            <a:r>
              <a:rPr lang="en-US" sz="1200" b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Moving Average (ARIMA)</a:t>
            </a:r>
            <a:endParaRPr lang="en-US" sz="1300" b="1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65176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Classical time-series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4663440" y="36118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21" name="Text 19"/>
          <p:cNvSpPr/>
          <p:nvPr/>
        </p:nvSpPr>
        <p:spPr>
          <a:xfrm>
            <a:off x="4754880" y="3703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/>
          </a:p>
        </p:txBody>
      </p:sp>
      <p:sp>
        <p:nvSpPr>
          <p:cNvPr id="22" name="Text 20"/>
          <p:cNvSpPr/>
          <p:nvPr/>
        </p:nvSpPr>
        <p:spPr>
          <a:xfrm>
            <a:off x="475488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ML</a:t>
            </a:r>
            <a:endParaRPr lang="en-US" sz="1200"/>
          </a:p>
        </p:txBody>
      </p:sp>
      <p:sp>
        <p:nvSpPr>
          <p:cNvPr id="23" name="Shape 21"/>
          <p:cNvSpPr/>
          <p:nvPr/>
        </p:nvSpPr>
        <p:spPr>
          <a:xfrm>
            <a:off x="6766560" y="36118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24" name="Text 22"/>
          <p:cNvSpPr/>
          <p:nvPr/>
        </p:nvSpPr>
        <p:spPr>
          <a:xfrm>
            <a:off x="6858000" y="3703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Long Short-Term Memory (LSTM)</a:t>
            </a:r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5800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Assets Under Study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financial assets selected for evaluation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^GSPC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2377440" y="1280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Index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217920" y="1280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Equity Index</a:t>
            </a:r>
            <a:endParaRPr lang="en-US" sz="1300"/>
          </a:p>
        </p:txBody>
      </p:sp>
      <p:sp>
        <p:nvSpPr>
          <p:cNvPr id="12" name="Shape 10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3" name="Text 11"/>
          <p:cNvSpPr/>
          <p:nvPr/>
        </p:nvSpPr>
        <p:spPr>
          <a:xfrm>
            <a:off x="640080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^HSI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2377440" y="1874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 Seng Index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 Equity Index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457200" y="242316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7" name="Text 15"/>
          <p:cNvSpPr/>
          <p:nvPr/>
        </p:nvSpPr>
        <p:spPr>
          <a:xfrm>
            <a:off x="640080" y="2468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0005.HK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2377440" y="2468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HSBC Holdings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6217920" y="2468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Equity</a:t>
            </a:r>
            <a:endParaRPr lang="en-US" sz="130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8229600" cy="5029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1" name="Text 19"/>
          <p:cNvSpPr/>
          <p:nvPr/>
        </p:nvSpPr>
        <p:spPr>
          <a:xfrm>
            <a:off x="640080" y="30632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0386.HK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2377440" y="3063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Sinopec Corp.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6217920" y="3063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Equity</a:t>
            </a:r>
            <a:endParaRPr lang="en-US" sz="130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5" name="Text 23"/>
          <p:cNvSpPr/>
          <p:nvPr/>
        </p:nvSpPr>
        <p:spPr>
          <a:xfrm>
            <a:off x="640080" y="3657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0388.HK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2377440" y="3657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HKEX</a:t>
            </a:r>
            <a:endParaRPr lang="en-US" sz="1400"/>
          </a:p>
        </p:txBody>
      </p:sp>
      <p:sp>
        <p:nvSpPr>
          <p:cNvPr id="27" name="Text 25"/>
          <p:cNvSpPr/>
          <p:nvPr/>
        </p:nvSpPr>
        <p:spPr>
          <a:xfrm>
            <a:off x="6217920" y="3657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 Equity</a:t>
            </a:r>
            <a:endParaRPr lang="en-US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Data Analysis &amp; Methodology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8" name="Shape 6"/>
          <p:cNvSpPr/>
          <p:nvPr/>
        </p:nvSpPr>
        <p:spPr>
          <a:xfrm>
            <a:off x="82296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9" name="Text 7"/>
          <p:cNvSpPr/>
          <p:nvPr/>
        </p:nvSpPr>
        <p:spPr>
          <a:xfrm>
            <a:off x="82296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/>
          </a:p>
        </p:txBody>
      </p:sp>
      <p:sp>
        <p:nvSpPr>
          <p:cNvPr id="10" name="Text 8"/>
          <p:cNvSpPr/>
          <p:nvPr/>
        </p:nvSpPr>
        <p:spPr>
          <a:xfrm>
            <a:off x="41148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300"/>
          </a:p>
        </p:txBody>
      </p:sp>
      <p:sp>
        <p:nvSpPr>
          <p:cNvPr id="11" name="Text 9"/>
          <p:cNvSpPr/>
          <p:nvPr/>
        </p:nvSpPr>
        <p:spPr>
          <a:xfrm>
            <a:off x="41148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 API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years daily data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1828800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/>
          </a:p>
        </p:txBody>
      </p:sp>
      <p:sp>
        <p:nvSpPr>
          <p:cNvPr id="13" name="Shape 11"/>
          <p:cNvSpPr/>
          <p:nvPr/>
        </p:nvSpPr>
        <p:spPr>
          <a:xfrm>
            <a:off x="205740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4" name="Shape 12"/>
          <p:cNvSpPr/>
          <p:nvPr/>
        </p:nvSpPr>
        <p:spPr>
          <a:xfrm>
            <a:off x="256032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5" name="Text 13"/>
          <p:cNvSpPr/>
          <p:nvPr/>
        </p:nvSpPr>
        <p:spPr>
          <a:xfrm>
            <a:off x="256032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/>
          </a:p>
        </p:txBody>
      </p:sp>
      <p:sp>
        <p:nvSpPr>
          <p:cNvPr id="16" name="Text 14"/>
          <p:cNvSpPr/>
          <p:nvPr/>
        </p:nvSpPr>
        <p:spPr>
          <a:xfrm>
            <a:off x="214884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Cleansing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214884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bfill</a:t>
            </a:r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 + </a:t>
            </a:r>
            <a:r>
              <a:rPr lang="en-US" sz="110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dropna</a:t>
            </a:r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+</a:t>
            </a:r>
            <a:endParaRPr lang="en-US" sz="1100" err="1"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review</a:t>
            </a:r>
            <a:endParaRPr lang="en-US" sz="1100"/>
          </a:p>
        </p:txBody>
      </p:sp>
      <p:sp>
        <p:nvSpPr>
          <p:cNvPr id="18" name="Text 16"/>
          <p:cNvSpPr/>
          <p:nvPr/>
        </p:nvSpPr>
        <p:spPr>
          <a:xfrm>
            <a:off x="3566160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/>
          </a:p>
        </p:txBody>
      </p:sp>
      <p:sp>
        <p:nvSpPr>
          <p:cNvPr id="19" name="Shape 17"/>
          <p:cNvSpPr/>
          <p:nvPr/>
        </p:nvSpPr>
        <p:spPr>
          <a:xfrm>
            <a:off x="379476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20" name="Shape 18"/>
          <p:cNvSpPr/>
          <p:nvPr/>
        </p:nvSpPr>
        <p:spPr>
          <a:xfrm>
            <a:off x="429768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1" name="Text 19"/>
          <p:cNvSpPr/>
          <p:nvPr/>
        </p:nvSpPr>
        <p:spPr>
          <a:xfrm>
            <a:off x="429768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/>
          </a:p>
        </p:txBody>
      </p:sp>
      <p:sp>
        <p:nvSpPr>
          <p:cNvPr id="22" name="Text 20"/>
          <p:cNvSpPr/>
          <p:nvPr/>
        </p:nvSpPr>
        <p:spPr>
          <a:xfrm>
            <a:off x="388620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300"/>
          </a:p>
        </p:txBody>
      </p:sp>
      <p:sp>
        <p:nvSpPr>
          <p:cNvPr id="23" name="Text 21"/>
          <p:cNvSpPr/>
          <p:nvPr/>
        </p:nvSpPr>
        <p:spPr>
          <a:xfrm>
            <a:off x="388620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Simple Moving Average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Stationarity tests</a:t>
            </a:r>
            <a:endParaRPr lang="en-US" sz="1100"/>
          </a:p>
        </p:txBody>
      </p:sp>
      <p:sp>
        <p:nvSpPr>
          <p:cNvPr id="24" name="Text 22"/>
          <p:cNvSpPr/>
          <p:nvPr/>
        </p:nvSpPr>
        <p:spPr>
          <a:xfrm>
            <a:off x="5303520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/>
          </a:p>
        </p:txBody>
      </p:sp>
      <p:sp>
        <p:nvSpPr>
          <p:cNvPr id="25" name="Shape 23"/>
          <p:cNvSpPr/>
          <p:nvPr/>
        </p:nvSpPr>
        <p:spPr>
          <a:xfrm>
            <a:off x="553212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26" name="Shape 24"/>
          <p:cNvSpPr/>
          <p:nvPr/>
        </p:nvSpPr>
        <p:spPr>
          <a:xfrm>
            <a:off x="603504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7" name="Text 25"/>
          <p:cNvSpPr/>
          <p:nvPr/>
        </p:nvSpPr>
        <p:spPr>
          <a:xfrm>
            <a:off x="603504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/>
          </a:p>
        </p:txBody>
      </p:sp>
      <p:sp>
        <p:nvSpPr>
          <p:cNvPr id="28" name="Text 26"/>
          <p:cNvSpPr/>
          <p:nvPr/>
        </p:nvSpPr>
        <p:spPr>
          <a:xfrm>
            <a:off x="562356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300"/>
          </a:p>
        </p:txBody>
      </p:sp>
      <p:sp>
        <p:nvSpPr>
          <p:cNvPr id="29" name="Text 27"/>
          <p:cNvSpPr/>
          <p:nvPr/>
        </p:nvSpPr>
        <p:spPr>
          <a:xfrm>
            <a:off x="562356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models with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</a:t>
            </a:r>
            <a:endParaRPr lang="en-US" sz="1100"/>
          </a:p>
        </p:txBody>
      </p:sp>
      <p:sp>
        <p:nvSpPr>
          <p:cNvPr id="30" name="Text 28"/>
          <p:cNvSpPr/>
          <p:nvPr/>
        </p:nvSpPr>
        <p:spPr>
          <a:xfrm>
            <a:off x="7040880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/>
          </a:p>
        </p:txBody>
      </p:sp>
      <p:sp>
        <p:nvSpPr>
          <p:cNvPr id="31" name="Shape 29"/>
          <p:cNvSpPr/>
          <p:nvPr/>
        </p:nvSpPr>
        <p:spPr>
          <a:xfrm>
            <a:off x="726948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32" name="Shape 30"/>
          <p:cNvSpPr/>
          <p:nvPr/>
        </p:nvSpPr>
        <p:spPr>
          <a:xfrm>
            <a:off x="777240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3" name="Text 31"/>
          <p:cNvSpPr/>
          <p:nvPr/>
        </p:nvSpPr>
        <p:spPr>
          <a:xfrm>
            <a:off x="777240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/>
          </a:p>
        </p:txBody>
      </p:sp>
      <p:sp>
        <p:nvSpPr>
          <p:cNvPr id="34" name="Text 32"/>
          <p:cNvSpPr/>
          <p:nvPr/>
        </p:nvSpPr>
        <p:spPr>
          <a:xfrm>
            <a:off x="736092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300"/>
          </a:p>
        </p:txBody>
      </p:sp>
      <p:sp>
        <p:nvSpPr>
          <p:cNvPr id="35" name="Text 33"/>
          <p:cNvSpPr/>
          <p:nvPr/>
        </p:nvSpPr>
        <p:spPr>
          <a:xfrm>
            <a:off x="736092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· MAE · MAPE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sequential split</a:t>
            </a:r>
            <a:endParaRPr lang="en-US" sz="1100"/>
          </a:p>
        </p:txBody>
      </p:sp>
      <p:sp>
        <p:nvSpPr>
          <p:cNvPr id="36" name="Shape 34"/>
          <p:cNvSpPr/>
          <p:nvPr/>
        </p:nvSpPr>
        <p:spPr>
          <a:xfrm>
            <a:off x="457200" y="3383280"/>
            <a:ext cx="3931920" cy="11887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7" name="Text 35"/>
          <p:cNvSpPr/>
          <p:nvPr/>
        </p:nvSpPr>
        <p:spPr>
          <a:xfrm>
            <a:off x="64008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Assumptions</a:t>
            </a:r>
            <a:endParaRPr lang="en-US" sz="1300"/>
          </a:p>
        </p:txBody>
      </p:sp>
      <p:sp>
        <p:nvSpPr>
          <p:cNvPr id="38" name="Text 36"/>
          <p:cNvSpPr/>
          <p:nvPr/>
        </p:nvSpPr>
        <p:spPr>
          <a:xfrm>
            <a:off x="640080" y="37947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Historical patterns contain predictive signal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Relationships persist over forecast horizon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Prices reflect historical time-series info</a:t>
            </a:r>
            <a:endParaRPr lang="en-US" sz="1200"/>
          </a:p>
        </p:txBody>
      </p:sp>
      <p:sp>
        <p:nvSpPr>
          <p:cNvPr id="39" name="Shape 37"/>
          <p:cNvSpPr/>
          <p:nvPr/>
        </p:nvSpPr>
        <p:spPr>
          <a:xfrm>
            <a:off x="4663440" y="3383280"/>
            <a:ext cx="4023360" cy="1188720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40" name="Text 38"/>
          <p:cNvSpPr/>
          <p:nvPr/>
        </p:nvSpPr>
        <p:spPr>
          <a:xfrm>
            <a:off x="484632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300"/>
          </a:p>
        </p:txBody>
      </p:sp>
      <p:sp>
        <p:nvSpPr>
          <p:cNvPr id="41" name="Text 39"/>
          <p:cNvSpPr/>
          <p:nvPr/>
        </p:nvSpPr>
        <p:spPr>
          <a:xfrm>
            <a:off x="4846320" y="37947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Black-swan events &amp; regime shifts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Macro / geopolitical shocks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model eliminates investment risk</a:t>
            </a:r>
            <a:endParaRPr lang="en-US"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Preprocessing Highlights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</a:t>
            </a:r>
            <a:endParaRPr lang="en-US" sz="150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4023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Averages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64008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Simple Moving Average for trend smoothing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4023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5" name="Text 13"/>
          <p:cNvSpPr/>
          <p:nvPr/>
        </p:nvSpPr>
        <p:spPr>
          <a:xfrm>
            <a:off x="640080" y="2560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Stationarity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test: raw series non-stationary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457200" y="1853766"/>
            <a:ext cx="4023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8" name="Text 16"/>
          <p:cNvSpPr/>
          <p:nvPr/>
        </p:nvSpPr>
        <p:spPr>
          <a:xfrm>
            <a:off x="640080" y="189948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640080" y="212808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std-dev shows clustering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4754880" y="868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Model-Specific Prep</a:t>
            </a:r>
            <a:endParaRPr lang="en-US" sz="1500"/>
          </a:p>
        </p:txBody>
      </p:sp>
      <p:sp>
        <p:nvSpPr>
          <p:cNvPr id="21" name="Shape 19"/>
          <p:cNvSpPr/>
          <p:nvPr/>
        </p:nvSpPr>
        <p:spPr>
          <a:xfrm>
            <a:off x="4754880" y="1234440"/>
            <a:ext cx="3931920" cy="54864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2" name="Text 20"/>
          <p:cNvSpPr/>
          <p:nvPr/>
        </p:nvSpPr>
        <p:spPr>
          <a:xfrm>
            <a:off x="4937760" y="1280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300"/>
          </a:p>
        </p:txBody>
      </p:sp>
      <p:sp>
        <p:nvSpPr>
          <p:cNvPr id="23" name="Text 21"/>
          <p:cNvSpPr/>
          <p:nvPr/>
        </p:nvSpPr>
        <p:spPr>
          <a:xfrm>
            <a:off x="493776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Remove extreme 2–4% daily returns to improve R²</a:t>
            </a:r>
            <a:endParaRPr lang="en-US" sz="1100">
              <a:latin typeface="Calibri"/>
              <a:ea typeface="Calibri"/>
              <a:cs typeface="Calibri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754880" y="1874520"/>
            <a:ext cx="3931920" cy="54864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5" name="Text 23"/>
          <p:cNvSpPr/>
          <p:nvPr/>
        </p:nvSpPr>
        <p:spPr>
          <a:xfrm>
            <a:off x="4937760" y="1920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4937760" y="2148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Differencing + log transform for stationarity</a:t>
            </a:r>
            <a:endParaRPr lang="en-US" sz="1100"/>
          </a:p>
        </p:txBody>
      </p:sp>
      <p:sp>
        <p:nvSpPr>
          <p:cNvPr id="27" name="Shape 25"/>
          <p:cNvSpPr/>
          <p:nvPr/>
        </p:nvSpPr>
        <p:spPr>
          <a:xfrm>
            <a:off x="4754880" y="2514600"/>
            <a:ext cx="3931920" cy="54864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8" name="Text 26"/>
          <p:cNvSpPr/>
          <p:nvPr/>
        </p:nvSpPr>
        <p:spPr>
          <a:xfrm>
            <a:off x="4937760" y="2560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/>
          </a:p>
        </p:txBody>
      </p:sp>
      <p:sp>
        <p:nvSpPr>
          <p:cNvPr id="29" name="Text 27"/>
          <p:cNvSpPr/>
          <p:nvPr/>
        </p:nvSpPr>
        <p:spPr>
          <a:xfrm>
            <a:off x="4937760" y="2788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Bias, MA Divergence, CV, Activity, Vol Momentum</a:t>
            </a:r>
          </a:p>
          <a:p>
            <a:r>
              <a:rPr lang="en-US" sz="1100">
                <a:solidFill>
                  <a:srgbClr val="2C3E50"/>
                </a:solidFill>
                <a:ea typeface="Calibri"/>
                <a:cs typeface="Calibri"/>
              </a:rPr>
              <a:t>Target: Next-day return</a:t>
            </a:r>
          </a:p>
        </p:txBody>
      </p:sp>
      <p:sp>
        <p:nvSpPr>
          <p:cNvPr id="30" name="Shape 28"/>
          <p:cNvSpPr/>
          <p:nvPr/>
        </p:nvSpPr>
        <p:spPr>
          <a:xfrm>
            <a:off x="4754880" y="3154680"/>
            <a:ext cx="3931920" cy="54864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1" name="Text 29"/>
          <p:cNvSpPr/>
          <p:nvPr/>
        </p:nvSpPr>
        <p:spPr>
          <a:xfrm>
            <a:off x="49377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300"/>
          </a:p>
        </p:txBody>
      </p:sp>
      <p:sp>
        <p:nvSpPr>
          <p:cNvPr id="32" name="Text 30"/>
          <p:cNvSpPr/>
          <p:nvPr/>
        </p:nvSpPr>
        <p:spPr>
          <a:xfrm>
            <a:off x="4937760" y="3429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MinMaxScaler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[0,1]; vanilla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stacked LSTM + Dropout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Model Architecture &amp; Tuning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>
            <a:off x="320040" y="8686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8" name="Shape 6"/>
          <p:cNvSpPr/>
          <p:nvPr/>
        </p:nvSpPr>
        <p:spPr>
          <a:xfrm>
            <a:off x="320040" y="868680"/>
            <a:ext cx="91440" cy="169164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9" name="Text 7"/>
          <p:cNvSpPr/>
          <p:nvPr/>
        </p:nvSpPr>
        <p:spPr>
          <a:xfrm>
            <a:off x="548640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548640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β₀ + β₁X₁ + … + βₙXₙ + ε</a:t>
            </a:r>
            <a:endParaRPr lang="en-US" sz="1200"/>
          </a:p>
        </p:txBody>
      </p:sp>
      <p:sp>
        <p:nvSpPr>
          <p:cNvPr id="11" name="Text 9"/>
          <p:cNvSpPr/>
          <p:nvPr/>
        </p:nvSpPr>
        <p:spPr>
          <a:xfrm>
            <a:off x="548640" y="1645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Benchmark model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Historical predictors + lags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Assumes linear relationship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4709160" y="8686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3" name="Shape 11"/>
          <p:cNvSpPr/>
          <p:nvPr/>
        </p:nvSpPr>
        <p:spPr>
          <a:xfrm>
            <a:off x="4709160" y="868680"/>
            <a:ext cx="91440" cy="169164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4" name="Text 12"/>
          <p:cNvSpPr/>
          <p:nvPr/>
        </p:nvSpPr>
        <p:spPr>
          <a:xfrm>
            <a:off x="4937760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4937760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Yₜ = c + ΣφᵢY₍ₜ₋ᵢ₎ + Σθⱼε₍ₜ₋ⱼ₎ + εₜ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4937760" y="1645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Optimized (p,d,q)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Stationarity validated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Autocorrelation focus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320040" y="26974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8" name="Shape 16"/>
          <p:cNvSpPr/>
          <p:nvPr/>
        </p:nvSpPr>
        <p:spPr>
          <a:xfrm>
            <a:off x="320040" y="2697480"/>
            <a:ext cx="91440" cy="169164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9" name="Text 17"/>
          <p:cNvSpPr/>
          <p:nvPr/>
        </p:nvSpPr>
        <p:spPr>
          <a:xfrm>
            <a:off x="54864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548640" y="31089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Ŷ = (1/B) Σ Tᵦ(X)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548640" y="34747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• </a:t>
            </a:r>
            <a:r>
              <a:rPr lang="en-US" sz="1200" dirty="0" err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n_est</a:t>
            </a:r>
            <a:r>
              <a:rPr lang="en-US" sz="1200" dirty="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: 100/200, </a:t>
            </a:r>
            <a:r>
              <a:rPr lang="en-US" sz="1200" dirty="0" err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max_depth</a:t>
            </a:r>
            <a:r>
              <a:rPr lang="en-US" sz="1200" dirty="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: 3/4/5,</a:t>
            </a:r>
            <a:endParaRPr lang="en-US" sz="1200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r>
              <a:rPr lang="en-US" sz="1200" dirty="0">
                <a:solidFill>
                  <a:srgbClr val="2C3E50"/>
                </a:solidFill>
                <a:ea typeface="Calibri"/>
                <a:cs typeface="Calibri"/>
              </a:rPr>
              <a:t>   </a:t>
            </a:r>
            <a:r>
              <a:rPr lang="en-US" sz="1200" dirty="0" err="1">
                <a:solidFill>
                  <a:srgbClr val="2C3E50"/>
                </a:solidFill>
                <a:ea typeface="Calibri"/>
                <a:cs typeface="Calibri"/>
              </a:rPr>
              <a:t>min_sample_leaf</a:t>
            </a:r>
            <a:r>
              <a:rPr lang="en-US" sz="1200" dirty="0">
                <a:solidFill>
                  <a:srgbClr val="2C3E50"/>
                </a:solidFill>
                <a:ea typeface="Calibri"/>
                <a:cs typeface="Calibri"/>
              </a:rPr>
              <a:t>: 20, 30</a:t>
            </a:r>
          </a:p>
          <a:p>
            <a:r>
              <a:rPr lang="en-US" sz="120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• Convert the predicted returns to predicted price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709160" y="26974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23" name="Shape 21"/>
          <p:cNvSpPr/>
          <p:nvPr/>
        </p:nvSpPr>
        <p:spPr>
          <a:xfrm>
            <a:off x="4709160" y="2697480"/>
            <a:ext cx="91440" cy="169164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4" name="Text 22"/>
          <p:cNvSpPr/>
          <p:nvPr/>
        </p:nvSpPr>
        <p:spPr>
          <a:xfrm>
            <a:off x="493776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400"/>
          </a:p>
        </p:txBody>
      </p:sp>
      <p:sp>
        <p:nvSpPr>
          <p:cNvPr id="25" name="Text 23"/>
          <p:cNvSpPr/>
          <p:nvPr/>
        </p:nvSpPr>
        <p:spPr>
          <a:xfrm>
            <a:off x="4937760" y="31089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hₜ = oₜ · tanh(Cₜ)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4937760" y="34747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Vanilla MS / Stacked LSTM + Dropout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Dense output, Adam, MSE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Chronological split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Metrics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values = better forecasting accuracy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1463040" cy="91440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MAE</a:t>
            </a:r>
            <a:endParaRPr lang="en-US" sz="1800"/>
          </a:p>
        </p:txBody>
      </p:sp>
      <p:sp>
        <p:nvSpPr>
          <p:cNvPr id="11" name="Text 9"/>
          <p:cNvSpPr/>
          <p:nvPr/>
        </p:nvSpPr>
        <p:spPr>
          <a:xfrm>
            <a:off x="2103120" y="13716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Error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2103120" y="16916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magnitude of residual errors on a linear scale. Robust to outliers. Expressed in price units.</a:t>
            </a:r>
            <a:endParaRPr lang="en-US" sz="130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4" name="Shape 12"/>
          <p:cNvSpPr/>
          <p:nvPr/>
        </p:nvSpPr>
        <p:spPr>
          <a:xfrm>
            <a:off x="457200" y="2286000"/>
            <a:ext cx="1463040" cy="91440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5" name="Text 13"/>
          <p:cNvSpPr/>
          <p:nvPr/>
        </p:nvSpPr>
        <p:spPr>
          <a:xfrm>
            <a:off x="457200" y="2560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RMSE</a:t>
            </a:r>
            <a:endParaRPr lang="en-US" sz="1800"/>
          </a:p>
        </p:txBody>
      </p:sp>
      <p:sp>
        <p:nvSpPr>
          <p:cNvPr id="16" name="Text 14"/>
          <p:cNvSpPr/>
          <p:nvPr/>
        </p:nvSpPr>
        <p:spPr>
          <a:xfrm>
            <a:off x="2103120" y="24231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Mean Squared Error</a:t>
            </a:r>
            <a:endParaRPr lang="en-US" sz="1400"/>
          </a:p>
        </p:txBody>
      </p:sp>
      <p:sp>
        <p:nvSpPr>
          <p:cNvPr id="17" name="Text 15"/>
          <p:cNvSpPr/>
          <p:nvPr/>
        </p:nvSpPr>
        <p:spPr>
          <a:xfrm>
            <a:off x="2103120" y="27432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Heavily penalizes large deviations. Critical for assessing whether models mitigate tail-risk prediction errors.</a:t>
            </a:r>
            <a:endParaRPr lang="en-US" sz="130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1463040" cy="91440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0" name="Text 18"/>
          <p:cNvSpPr/>
          <p:nvPr/>
        </p:nvSpPr>
        <p:spPr>
          <a:xfrm>
            <a:off x="457200" y="3611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MAPE</a:t>
            </a:r>
            <a:endParaRPr lang="en-US" sz="1800"/>
          </a:p>
        </p:txBody>
      </p:sp>
      <p:sp>
        <p:nvSpPr>
          <p:cNvPr id="21" name="Text 19"/>
          <p:cNvSpPr/>
          <p:nvPr/>
        </p:nvSpPr>
        <p:spPr>
          <a:xfrm>
            <a:off x="2103120" y="34747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Percentage Error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2103120" y="37947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Scale-independent percentage error. Enables fair comparison across assets with different price levels.</a:t>
            </a:r>
            <a:endParaRPr lang="en-US" sz="13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Results Overview — Best Model by Asset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2743200" y="9601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5029200" y="960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30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2" name="Text 10"/>
          <p:cNvSpPr/>
          <p:nvPr/>
        </p:nvSpPr>
        <p:spPr>
          <a:xfrm>
            <a:off x="548640" y="1463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2743200" y="14630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/ ARIMA</a:t>
            </a:r>
            <a:endParaRPr lang="en-US" sz="1300"/>
          </a:p>
        </p:txBody>
      </p:sp>
      <p:sp>
        <p:nvSpPr>
          <p:cNvPr id="14" name="Text 12"/>
          <p:cNvSpPr/>
          <p:nvPr/>
        </p:nvSpPr>
        <p:spPr>
          <a:xfrm>
            <a:off x="502920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RMSE, MAE &amp; MAPE</a:t>
            </a:r>
            <a:endParaRPr lang="en-US" sz="1300"/>
          </a:p>
        </p:txBody>
      </p:sp>
      <p:sp>
        <p:nvSpPr>
          <p:cNvPr id="15" name="Shape 13"/>
          <p:cNvSpPr/>
          <p:nvPr/>
        </p:nvSpPr>
        <p:spPr>
          <a:xfrm>
            <a:off x="457200" y="1874520"/>
            <a:ext cx="8229600" cy="5029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6" name="Text 14"/>
          <p:cNvSpPr/>
          <p:nvPr/>
        </p:nvSpPr>
        <p:spPr>
          <a:xfrm>
            <a:off x="548640" y="19659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HSI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2743200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300"/>
          </a:p>
        </p:txBody>
      </p:sp>
      <p:sp>
        <p:nvSpPr>
          <p:cNvPr id="18" name="Text 16"/>
          <p:cNvSpPr/>
          <p:nvPr/>
        </p:nvSpPr>
        <p:spPr>
          <a:xfrm>
            <a:off x="5029200" y="1965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RMSE, MAE &amp; MAPE</a:t>
            </a:r>
            <a:endParaRPr lang="en-US" sz="1300"/>
          </a:p>
        </p:txBody>
      </p:sp>
      <p:sp>
        <p:nvSpPr>
          <p:cNvPr id="19" name="Shape 17"/>
          <p:cNvSpPr/>
          <p:nvPr/>
        </p:nvSpPr>
        <p:spPr>
          <a:xfrm>
            <a:off x="457200" y="237744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0" name="Text 18"/>
          <p:cNvSpPr/>
          <p:nvPr/>
        </p:nvSpPr>
        <p:spPr>
          <a:xfrm>
            <a:off x="548640" y="2468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0386.HK</a:t>
            </a:r>
            <a:endParaRPr lang="en-US" sz="1300"/>
          </a:p>
        </p:txBody>
      </p:sp>
      <p:sp>
        <p:nvSpPr>
          <p:cNvPr id="21" name="Text 19"/>
          <p:cNvSpPr/>
          <p:nvPr/>
        </p:nvSpPr>
        <p:spPr>
          <a:xfrm>
            <a:off x="2743200" y="2468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300"/>
          </a:p>
        </p:txBody>
      </p:sp>
      <p:sp>
        <p:nvSpPr>
          <p:cNvPr id="22" name="Text 20"/>
          <p:cNvSpPr/>
          <p:nvPr/>
        </p:nvSpPr>
        <p:spPr>
          <a:xfrm>
            <a:off x="502920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RMSE, MAE &amp; MAPE</a:t>
            </a:r>
            <a:endParaRPr lang="en-US" sz="1300"/>
          </a:p>
        </p:txBody>
      </p:sp>
      <p:sp>
        <p:nvSpPr>
          <p:cNvPr id="23" name="Shape 21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4" name="Text 22"/>
          <p:cNvSpPr/>
          <p:nvPr/>
        </p:nvSpPr>
        <p:spPr>
          <a:xfrm>
            <a:off x="548640" y="2971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0388.HK</a:t>
            </a:r>
            <a:endParaRPr lang="en-US" sz="1300"/>
          </a:p>
        </p:txBody>
      </p:sp>
      <p:sp>
        <p:nvSpPr>
          <p:cNvPr id="25" name="Text 23"/>
          <p:cNvSpPr/>
          <p:nvPr/>
        </p:nvSpPr>
        <p:spPr>
          <a:xfrm>
            <a:off x="274320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5029200" y="2971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RMSE, MAE &amp; MAPE</a:t>
            </a:r>
            <a:endParaRPr lang="en-US" sz="1300"/>
          </a:p>
        </p:txBody>
      </p:sp>
      <p:sp>
        <p:nvSpPr>
          <p:cNvPr id="27" name="Shape 25"/>
          <p:cNvSpPr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8" name="Text 26"/>
          <p:cNvSpPr/>
          <p:nvPr/>
        </p:nvSpPr>
        <p:spPr>
          <a:xfrm>
            <a:off x="548640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0005.HK</a:t>
            </a:r>
            <a:endParaRPr lang="en-US" sz="1300"/>
          </a:p>
        </p:txBody>
      </p:sp>
      <p:sp>
        <p:nvSpPr>
          <p:cNvPr id="29" name="Text 27"/>
          <p:cNvSpPr/>
          <p:nvPr/>
        </p:nvSpPr>
        <p:spPr>
          <a:xfrm>
            <a:off x="2743200" y="34747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/>
          </a:p>
        </p:txBody>
      </p:sp>
      <p:sp>
        <p:nvSpPr>
          <p:cNvPr id="30" name="Text 28"/>
          <p:cNvSpPr/>
          <p:nvPr/>
        </p:nvSpPr>
        <p:spPr>
          <a:xfrm>
            <a:off x="5029200" y="3474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accuracy across metrics</a:t>
            </a:r>
            <a:endParaRPr lang="en-US" sz="1300"/>
          </a:p>
        </p:txBody>
      </p:sp>
      <p:sp>
        <p:nvSpPr>
          <p:cNvPr id="31" name="Text 29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model dominates → asset-dependent performance</a:t>
            </a:r>
            <a:endParaRPr lang="en-US" sz="14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Detailed Results — S&amp;P 500 &amp; HSI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1. S&amp;P 500 Model Performance</a:t>
            </a:r>
            <a:endParaRPr lang="en-US" sz="130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4114800" cy="292608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/>
          </a:p>
        </p:txBody>
      </p:sp>
      <p:sp>
        <p:nvSpPr>
          <p:cNvPr id="10" name="Text 8"/>
          <p:cNvSpPr/>
          <p:nvPr/>
        </p:nvSpPr>
        <p:spPr>
          <a:xfrm>
            <a:off x="1508760" y="1170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/>
          </a:p>
        </p:txBody>
      </p:sp>
      <p:sp>
        <p:nvSpPr>
          <p:cNvPr id="11" name="Text 9"/>
          <p:cNvSpPr/>
          <p:nvPr/>
        </p:nvSpPr>
        <p:spPr>
          <a:xfrm>
            <a:off x="2514600" y="1170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3520440" y="1170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100"/>
          </a:p>
        </p:txBody>
      </p:sp>
      <p:sp>
        <p:nvSpPr>
          <p:cNvPr id="13" name="Shape 11"/>
          <p:cNvSpPr/>
          <p:nvPr/>
        </p:nvSpPr>
        <p:spPr>
          <a:xfrm>
            <a:off x="457200" y="1435608"/>
            <a:ext cx="4114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4" name="Text 12"/>
          <p:cNvSpPr/>
          <p:nvPr/>
        </p:nvSpPr>
        <p:spPr>
          <a:xfrm>
            <a:off x="502920" y="14538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100"/>
          </a:p>
        </p:txBody>
      </p:sp>
      <p:sp>
        <p:nvSpPr>
          <p:cNvPr id="15" name="Text 13"/>
          <p:cNvSpPr/>
          <p:nvPr/>
        </p:nvSpPr>
        <p:spPr>
          <a:xfrm>
            <a:off x="1508760" y="14538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234.14</a:t>
            </a:r>
            <a:endParaRPr lang="en-US" sz="1100"/>
          </a:p>
        </p:txBody>
      </p:sp>
      <p:sp>
        <p:nvSpPr>
          <p:cNvPr id="16" name="Text 14"/>
          <p:cNvSpPr/>
          <p:nvPr/>
        </p:nvSpPr>
        <p:spPr>
          <a:xfrm>
            <a:off x="2514600" y="14538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193.00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3520440" y="14538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2.68%</a:t>
            </a:r>
            <a:endParaRPr lang="en-US" sz="1100"/>
          </a:p>
        </p:txBody>
      </p:sp>
      <p:sp>
        <p:nvSpPr>
          <p:cNvPr id="18" name="Shape 16"/>
          <p:cNvSpPr/>
          <p:nvPr/>
        </p:nvSpPr>
        <p:spPr>
          <a:xfrm>
            <a:off x="457200" y="1728216"/>
            <a:ext cx="4114800" cy="292608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9" name="Text 17"/>
          <p:cNvSpPr/>
          <p:nvPr/>
        </p:nvSpPr>
        <p:spPr>
          <a:xfrm>
            <a:off x="502920" y="17465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100"/>
          </a:p>
        </p:txBody>
      </p:sp>
      <p:sp>
        <p:nvSpPr>
          <p:cNvPr id="20" name="Text 18"/>
          <p:cNvSpPr/>
          <p:nvPr/>
        </p:nvSpPr>
        <p:spPr>
          <a:xfrm>
            <a:off x="1508760" y="17465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474.98</a:t>
            </a:r>
            <a:endParaRPr lang="en-US" sz="1100"/>
          </a:p>
        </p:txBody>
      </p:sp>
      <p:sp>
        <p:nvSpPr>
          <p:cNvPr id="21" name="Text 19"/>
          <p:cNvSpPr/>
          <p:nvPr/>
        </p:nvSpPr>
        <p:spPr>
          <a:xfrm>
            <a:off x="2514600" y="17465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468.22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3520440" y="17465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7.65%</a:t>
            </a:r>
            <a:endParaRPr lang="en-US" sz="1100"/>
          </a:p>
        </p:txBody>
      </p:sp>
      <p:sp>
        <p:nvSpPr>
          <p:cNvPr id="23" name="Shape 21"/>
          <p:cNvSpPr/>
          <p:nvPr/>
        </p:nvSpPr>
        <p:spPr>
          <a:xfrm>
            <a:off x="457200" y="2020824"/>
            <a:ext cx="4114800" cy="292608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4" name="Text 22"/>
          <p:cNvSpPr/>
          <p:nvPr/>
        </p:nvSpPr>
        <p:spPr>
          <a:xfrm>
            <a:off x="502920" y="20391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/>
          </a:p>
        </p:txBody>
      </p:sp>
      <p:sp>
        <p:nvSpPr>
          <p:cNvPr id="25" name="Text 23"/>
          <p:cNvSpPr/>
          <p:nvPr/>
        </p:nvSpPr>
        <p:spPr>
          <a:xfrm>
            <a:off x="1508760" y="20391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223.58</a:t>
            </a:r>
            <a:endParaRPr lang="en-US" sz="1100"/>
          </a:p>
        </p:txBody>
      </p:sp>
      <p:sp>
        <p:nvSpPr>
          <p:cNvPr id="26" name="Text 24"/>
          <p:cNvSpPr/>
          <p:nvPr/>
        </p:nvSpPr>
        <p:spPr>
          <a:xfrm>
            <a:off x="2514600" y="20391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153.29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3520440" y="20391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2.21%</a:t>
            </a:r>
            <a:endParaRPr lang="en-US" sz="1100"/>
          </a:p>
        </p:txBody>
      </p:sp>
      <p:sp>
        <p:nvSpPr>
          <p:cNvPr id="28" name="Shape 26"/>
          <p:cNvSpPr/>
          <p:nvPr/>
        </p:nvSpPr>
        <p:spPr>
          <a:xfrm>
            <a:off x="457200" y="2313432"/>
            <a:ext cx="4114800" cy="292608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9" name="Text 27"/>
          <p:cNvSpPr/>
          <p:nvPr/>
        </p:nvSpPr>
        <p:spPr>
          <a:xfrm>
            <a:off x="502920" y="23317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100"/>
          </a:p>
        </p:txBody>
      </p:sp>
      <p:sp>
        <p:nvSpPr>
          <p:cNvPr id="30" name="Text 28"/>
          <p:cNvSpPr/>
          <p:nvPr/>
        </p:nvSpPr>
        <p:spPr>
          <a:xfrm>
            <a:off x="1508760" y="23317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222.49</a:t>
            </a:r>
            <a:endParaRPr lang="en-US" sz="1100"/>
          </a:p>
        </p:txBody>
      </p:sp>
      <p:sp>
        <p:nvSpPr>
          <p:cNvPr id="31" name="Text 29"/>
          <p:cNvSpPr/>
          <p:nvPr/>
        </p:nvSpPr>
        <p:spPr>
          <a:xfrm>
            <a:off x="2514600" y="23317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156.09</a:t>
            </a:r>
            <a:endParaRPr lang="en-US" sz="1100"/>
          </a:p>
        </p:txBody>
      </p:sp>
      <p:sp>
        <p:nvSpPr>
          <p:cNvPr id="32" name="Text 30"/>
          <p:cNvSpPr/>
          <p:nvPr/>
        </p:nvSpPr>
        <p:spPr>
          <a:xfrm>
            <a:off x="3520440" y="23317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2.23%</a:t>
            </a:r>
            <a:endParaRPr lang="en-US" sz="1100"/>
          </a:p>
        </p:txBody>
      </p:sp>
      <p:sp>
        <p:nvSpPr>
          <p:cNvPr id="33" name="Text 31"/>
          <p:cNvSpPr/>
          <p:nvPr/>
        </p:nvSpPr>
        <p:spPr>
          <a:xfrm>
            <a:off x="457200" y="26974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lowest RMSE; RF lowest MAE/MAPE</a:t>
            </a:r>
            <a:endParaRPr lang="en-US" sz="1100"/>
          </a:p>
        </p:txBody>
      </p:sp>
      <p:sp>
        <p:nvSpPr>
          <p:cNvPr id="34" name="Text 32"/>
          <p:cNvSpPr/>
          <p:nvPr/>
        </p:nvSpPr>
        <p:spPr>
          <a:xfrm>
            <a:off x="4846320" y="822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2. HSI Model Performance</a:t>
            </a:r>
            <a:endParaRPr lang="en-US" sz="1300"/>
          </a:p>
        </p:txBody>
      </p:sp>
      <p:sp>
        <p:nvSpPr>
          <p:cNvPr id="35" name="Shape 33"/>
          <p:cNvSpPr/>
          <p:nvPr/>
        </p:nvSpPr>
        <p:spPr>
          <a:xfrm>
            <a:off x="4846320" y="1143000"/>
            <a:ext cx="3931920" cy="292608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6" name="Text 34"/>
          <p:cNvSpPr/>
          <p:nvPr/>
        </p:nvSpPr>
        <p:spPr>
          <a:xfrm>
            <a:off x="4892040" y="1170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/>
          </a:p>
        </p:txBody>
      </p:sp>
      <p:sp>
        <p:nvSpPr>
          <p:cNvPr id="37" name="Text 35"/>
          <p:cNvSpPr/>
          <p:nvPr/>
        </p:nvSpPr>
        <p:spPr>
          <a:xfrm>
            <a:off x="5852160" y="1170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/>
          </a:p>
        </p:txBody>
      </p:sp>
      <p:sp>
        <p:nvSpPr>
          <p:cNvPr id="38" name="Text 36"/>
          <p:cNvSpPr/>
          <p:nvPr/>
        </p:nvSpPr>
        <p:spPr>
          <a:xfrm>
            <a:off x="6812280" y="1170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/>
          </a:p>
        </p:txBody>
      </p:sp>
      <p:sp>
        <p:nvSpPr>
          <p:cNvPr id="39" name="Text 37"/>
          <p:cNvSpPr/>
          <p:nvPr/>
        </p:nvSpPr>
        <p:spPr>
          <a:xfrm>
            <a:off x="7772400" y="1170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100"/>
          </a:p>
        </p:txBody>
      </p:sp>
      <p:sp>
        <p:nvSpPr>
          <p:cNvPr id="40" name="Shape 38"/>
          <p:cNvSpPr/>
          <p:nvPr/>
        </p:nvSpPr>
        <p:spPr>
          <a:xfrm>
            <a:off x="4846320" y="1435608"/>
            <a:ext cx="3931920" cy="292608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41" name="Text 39"/>
          <p:cNvSpPr/>
          <p:nvPr/>
        </p:nvSpPr>
        <p:spPr>
          <a:xfrm>
            <a:off x="4892040" y="1453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100"/>
          </a:p>
        </p:txBody>
      </p:sp>
      <p:sp>
        <p:nvSpPr>
          <p:cNvPr id="42" name="Text 40"/>
          <p:cNvSpPr/>
          <p:nvPr/>
        </p:nvSpPr>
        <p:spPr>
          <a:xfrm>
            <a:off x="5852160" y="1453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1,438.64</a:t>
            </a:r>
            <a:endParaRPr lang="en-US" sz="1100"/>
          </a:p>
        </p:txBody>
      </p:sp>
      <p:sp>
        <p:nvSpPr>
          <p:cNvPr id="43" name="Text 41"/>
          <p:cNvSpPr/>
          <p:nvPr/>
        </p:nvSpPr>
        <p:spPr>
          <a:xfrm>
            <a:off x="6812280" y="1453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1,177.65</a:t>
            </a:r>
            <a:endParaRPr lang="en-US" sz="1100"/>
          </a:p>
        </p:txBody>
      </p:sp>
      <p:sp>
        <p:nvSpPr>
          <p:cNvPr id="44" name="Text 42"/>
          <p:cNvSpPr/>
          <p:nvPr/>
        </p:nvSpPr>
        <p:spPr>
          <a:xfrm>
            <a:off x="7772400" y="1453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4.59%</a:t>
            </a:r>
            <a:endParaRPr lang="en-US" sz="1100"/>
          </a:p>
        </p:txBody>
      </p:sp>
      <p:sp>
        <p:nvSpPr>
          <p:cNvPr id="45" name="Shape 43"/>
          <p:cNvSpPr/>
          <p:nvPr/>
        </p:nvSpPr>
        <p:spPr>
          <a:xfrm>
            <a:off x="4846320" y="1728216"/>
            <a:ext cx="3931920" cy="292608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46" name="Text 44"/>
          <p:cNvSpPr/>
          <p:nvPr/>
        </p:nvSpPr>
        <p:spPr>
          <a:xfrm>
            <a:off x="4892040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100"/>
          </a:p>
        </p:txBody>
      </p:sp>
      <p:sp>
        <p:nvSpPr>
          <p:cNvPr id="47" name="Text 45"/>
          <p:cNvSpPr/>
          <p:nvPr/>
        </p:nvSpPr>
        <p:spPr>
          <a:xfrm>
            <a:off x="5852160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2,351.28</a:t>
            </a:r>
            <a:endParaRPr lang="en-US" sz="1100"/>
          </a:p>
        </p:txBody>
      </p:sp>
      <p:sp>
        <p:nvSpPr>
          <p:cNvPr id="48" name="Text 46"/>
          <p:cNvSpPr/>
          <p:nvPr/>
        </p:nvSpPr>
        <p:spPr>
          <a:xfrm>
            <a:off x="6812280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2,311.69</a:t>
            </a:r>
            <a:endParaRPr lang="en-US" sz="1100"/>
          </a:p>
        </p:txBody>
      </p:sp>
      <p:sp>
        <p:nvSpPr>
          <p:cNvPr id="49" name="Text 47"/>
          <p:cNvSpPr/>
          <p:nvPr/>
        </p:nvSpPr>
        <p:spPr>
          <a:xfrm>
            <a:off x="7772400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9.67%</a:t>
            </a:r>
            <a:endParaRPr lang="en-US" sz="1100"/>
          </a:p>
        </p:txBody>
      </p:sp>
      <p:sp>
        <p:nvSpPr>
          <p:cNvPr id="50" name="Shape 48"/>
          <p:cNvSpPr/>
          <p:nvPr/>
        </p:nvSpPr>
        <p:spPr>
          <a:xfrm>
            <a:off x="4846320" y="2020824"/>
            <a:ext cx="393192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51" name="Text 49"/>
          <p:cNvSpPr/>
          <p:nvPr/>
        </p:nvSpPr>
        <p:spPr>
          <a:xfrm>
            <a:off x="4892040" y="2039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/>
          </a:p>
        </p:txBody>
      </p:sp>
      <p:sp>
        <p:nvSpPr>
          <p:cNvPr id="52" name="Text 50"/>
          <p:cNvSpPr/>
          <p:nvPr/>
        </p:nvSpPr>
        <p:spPr>
          <a:xfrm>
            <a:off x="5852160" y="2039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2,036.34</a:t>
            </a:r>
            <a:endParaRPr lang="en-US" sz="1100"/>
          </a:p>
        </p:txBody>
      </p:sp>
      <p:sp>
        <p:nvSpPr>
          <p:cNvPr id="53" name="Text 51"/>
          <p:cNvSpPr/>
          <p:nvPr/>
        </p:nvSpPr>
        <p:spPr>
          <a:xfrm>
            <a:off x="6812280" y="2039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1,630.29</a:t>
            </a:r>
            <a:endParaRPr lang="en-US" sz="1100"/>
          </a:p>
        </p:txBody>
      </p:sp>
      <p:sp>
        <p:nvSpPr>
          <p:cNvPr id="54" name="Text 52"/>
          <p:cNvSpPr/>
          <p:nvPr/>
        </p:nvSpPr>
        <p:spPr>
          <a:xfrm>
            <a:off x="7772400" y="2039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6.55%</a:t>
            </a:r>
            <a:endParaRPr lang="en-US" sz="1100"/>
          </a:p>
        </p:txBody>
      </p:sp>
      <p:sp>
        <p:nvSpPr>
          <p:cNvPr id="55" name="Shape 53"/>
          <p:cNvSpPr/>
          <p:nvPr/>
        </p:nvSpPr>
        <p:spPr>
          <a:xfrm>
            <a:off x="4846320" y="2313432"/>
            <a:ext cx="3931920" cy="292608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56" name="Text 54"/>
          <p:cNvSpPr/>
          <p:nvPr/>
        </p:nvSpPr>
        <p:spPr>
          <a:xfrm>
            <a:off x="4892040" y="2331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100"/>
          </a:p>
        </p:txBody>
      </p:sp>
      <p:sp>
        <p:nvSpPr>
          <p:cNvPr id="57" name="Text 55"/>
          <p:cNvSpPr/>
          <p:nvPr/>
        </p:nvSpPr>
        <p:spPr>
          <a:xfrm>
            <a:off x="5852160" y="2331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1,661.94</a:t>
            </a:r>
            <a:endParaRPr lang="en-US" sz="1100"/>
          </a:p>
        </p:txBody>
      </p:sp>
      <p:sp>
        <p:nvSpPr>
          <p:cNvPr id="58" name="Text 56"/>
          <p:cNvSpPr/>
          <p:nvPr/>
        </p:nvSpPr>
        <p:spPr>
          <a:xfrm>
            <a:off x="6812280" y="2331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1,400.72</a:t>
            </a:r>
            <a:endParaRPr lang="en-US" sz="1100"/>
          </a:p>
        </p:txBody>
      </p:sp>
      <p:sp>
        <p:nvSpPr>
          <p:cNvPr id="59" name="Text 57"/>
          <p:cNvSpPr/>
          <p:nvPr/>
        </p:nvSpPr>
        <p:spPr>
          <a:xfrm>
            <a:off x="7772400" y="2331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5.63%</a:t>
            </a:r>
            <a:endParaRPr lang="en-US" sz="1100"/>
          </a:p>
        </p:txBody>
      </p:sp>
      <p:sp>
        <p:nvSpPr>
          <p:cNvPr id="60" name="Text 58"/>
          <p:cNvSpPr/>
          <p:nvPr/>
        </p:nvSpPr>
        <p:spPr>
          <a:xfrm>
            <a:off x="4846320" y="26974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clearly best for HSI</a:t>
            </a:r>
            <a:endParaRPr lang="en-US" sz="1100"/>
          </a:p>
        </p:txBody>
      </p:sp>
      <p:sp>
        <p:nvSpPr>
          <p:cNvPr id="63" name="Shape 61"/>
          <p:cNvSpPr/>
          <p:nvPr/>
        </p:nvSpPr>
        <p:spPr>
          <a:xfrm>
            <a:off x="4846320" y="3108960"/>
            <a:ext cx="3931920" cy="1371600"/>
          </a:xfrm>
          <a:prstGeom prst="rect">
            <a:avLst/>
          </a:prstGeom>
          <a:solidFill>
            <a:srgbClr val="F1EDE6"/>
          </a:solidFill>
          <a:ln w="12700">
            <a:solidFill>
              <a:srgbClr val="D1D5DB"/>
            </a:solidFill>
            <a:prstDash val="dash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4" name="Text 62"/>
          <p:cNvSpPr/>
          <p:nvPr/>
        </p:nvSpPr>
        <p:spPr>
          <a:xfrm>
            <a:off x="4846320" y="3611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HSI forecast chart / residual plot]</a:t>
            </a:r>
            <a:endParaRPr lang="en-US" sz="120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32E4D98-ED05-598C-7E9F-CDF5B7BB9EB0}"/>
              </a:ext>
            </a:extLst>
          </p:cNvPr>
          <p:cNvSpPr txBox="1"/>
          <p:nvPr/>
        </p:nvSpPr>
        <p:spPr>
          <a:xfrm>
            <a:off x="113162" y="2917891"/>
            <a:ext cx="2156460" cy="2539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050">
                <a:ea typeface="Calibri"/>
                <a:cs typeface="Calibri"/>
              </a:rPr>
              <a:t>ARMIA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4AC61A6-FBC6-D624-DCAB-2FBB3D741CFC}"/>
              </a:ext>
            </a:extLst>
          </p:cNvPr>
          <p:cNvSpPr txBox="1"/>
          <p:nvPr/>
        </p:nvSpPr>
        <p:spPr>
          <a:xfrm>
            <a:off x="2511989" y="2920582"/>
            <a:ext cx="191709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Calibri"/>
                <a:cs typeface="Calibri"/>
              </a:rPr>
              <a:t>Random Forest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30D63D47-29BF-74BF-52AC-E968C322D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1687" y="3185654"/>
            <a:ext cx="2173605" cy="1636424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31BDF6F1-A284-2009-A3E5-DFE64C146A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84" y="3120307"/>
            <a:ext cx="2455741" cy="1719883"/>
          </a:xfrm>
          <a:prstGeom prst="rect">
            <a:avLst/>
          </a:prstGeom>
        </p:spPr>
      </p:pic>
      <p:pic>
        <p:nvPicPr>
          <p:cNvPr id="62" name="圖片 61">
            <a:extLst>
              <a:ext uri="{FF2B5EF4-FFF2-40B4-BE49-F238E27FC236}">
                <a16:creationId xmlns:a16="http://schemas.microsoft.com/office/drawing/2014/main" id="{A923790E-C038-72BB-0D3E-378C3417F3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4632" y="3050962"/>
            <a:ext cx="3933949" cy="17711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Detailed Results — Individual Equities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274320" y="8229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0386.HK (Sinopec)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274320" y="107899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LSTM</a:t>
            </a:r>
            <a:endParaRPr lang="en-US" sz="1100"/>
          </a:p>
        </p:txBody>
      </p:sp>
      <p:sp>
        <p:nvSpPr>
          <p:cNvPr id="9" name="Shape 7"/>
          <p:cNvSpPr/>
          <p:nvPr/>
        </p:nvSpPr>
        <p:spPr>
          <a:xfrm>
            <a:off x="274320" y="1371600"/>
            <a:ext cx="2788920" cy="256032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0" name="Text 8"/>
          <p:cNvSpPr/>
          <p:nvPr/>
        </p:nvSpPr>
        <p:spPr>
          <a:xfrm>
            <a:off x="32004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/>
          </a:p>
        </p:txBody>
      </p:sp>
      <p:sp>
        <p:nvSpPr>
          <p:cNvPr id="11" name="Text 9"/>
          <p:cNvSpPr/>
          <p:nvPr/>
        </p:nvSpPr>
        <p:spPr>
          <a:xfrm>
            <a:off x="100584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00"/>
          </a:p>
        </p:txBody>
      </p:sp>
      <p:sp>
        <p:nvSpPr>
          <p:cNvPr id="12" name="Text 10"/>
          <p:cNvSpPr/>
          <p:nvPr/>
        </p:nvSpPr>
        <p:spPr>
          <a:xfrm>
            <a:off x="169164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/>
          </a:p>
        </p:txBody>
      </p:sp>
      <p:sp>
        <p:nvSpPr>
          <p:cNvPr id="13" name="Text 11"/>
          <p:cNvSpPr/>
          <p:nvPr/>
        </p:nvSpPr>
        <p:spPr>
          <a:xfrm>
            <a:off x="237744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900"/>
          </a:p>
        </p:txBody>
      </p:sp>
      <p:sp>
        <p:nvSpPr>
          <p:cNvPr id="14" name="Shape 12"/>
          <p:cNvSpPr/>
          <p:nvPr/>
        </p:nvSpPr>
        <p:spPr>
          <a:xfrm>
            <a:off x="274320" y="1627632"/>
            <a:ext cx="278892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5" name="Text 13"/>
          <p:cNvSpPr/>
          <p:nvPr/>
        </p:nvSpPr>
        <p:spPr>
          <a:xfrm>
            <a:off x="32004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000"/>
          </a:p>
        </p:txBody>
      </p:sp>
      <p:sp>
        <p:nvSpPr>
          <p:cNvPr id="16" name="Text 14"/>
          <p:cNvSpPr/>
          <p:nvPr/>
        </p:nvSpPr>
        <p:spPr>
          <a:xfrm>
            <a:off x="100584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0.45</a:t>
            </a:r>
            <a:endParaRPr lang="en-US" sz="1000"/>
          </a:p>
        </p:txBody>
      </p:sp>
      <p:sp>
        <p:nvSpPr>
          <p:cNvPr id="17" name="Text 15"/>
          <p:cNvSpPr/>
          <p:nvPr/>
        </p:nvSpPr>
        <p:spPr>
          <a:xfrm>
            <a:off x="169164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0.33</a:t>
            </a:r>
            <a:endParaRPr lang="en-US" sz="1000"/>
          </a:p>
        </p:txBody>
      </p:sp>
      <p:sp>
        <p:nvSpPr>
          <p:cNvPr id="18" name="Text 16"/>
          <p:cNvSpPr/>
          <p:nvPr/>
        </p:nvSpPr>
        <p:spPr>
          <a:xfrm>
            <a:off x="237744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6.99%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274320" y="1901952"/>
            <a:ext cx="2788920" cy="27432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0" name="Text 18"/>
          <p:cNvSpPr/>
          <p:nvPr/>
        </p:nvSpPr>
        <p:spPr>
          <a:xfrm>
            <a:off x="32004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000"/>
          </a:p>
        </p:txBody>
      </p:sp>
      <p:sp>
        <p:nvSpPr>
          <p:cNvPr id="21" name="Text 19"/>
          <p:cNvSpPr/>
          <p:nvPr/>
        </p:nvSpPr>
        <p:spPr>
          <a:xfrm>
            <a:off x="100584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169164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1000"/>
          </a:p>
        </p:txBody>
      </p:sp>
      <p:sp>
        <p:nvSpPr>
          <p:cNvPr id="23" name="Text 21"/>
          <p:cNvSpPr/>
          <p:nvPr/>
        </p:nvSpPr>
        <p:spPr>
          <a:xfrm>
            <a:off x="237744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4.85%</a:t>
            </a:r>
            <a:endParaRPr lang="en-US" sz="1000"/>
          </a:p>
        </p:txBody>
      </p:sp>
      <p:sp>
        <p:nvSpPr>
          <p:cNvPr id="24" name="Shape 22"/>
          <p:cNvSpPr/>
          <p:nvPr/>
        </p:nvSpPr>
        <p:spPr>
          <a:xfrm>
            <a:off x="274320" y="2176272"/>
            <a:ext cx="278892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5" name="Text 23"/>
          <p:cNvSpPr/>
          <p:nvPr/>
        </p:nvSpPr>
        <p:spPr>
          <a:xfrm>
            <a:off x="32004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/>
          </a:p>
        </p:txBody>
      </p:sp>
      <p:sp>
        <p:nvSpPr>
          <p:cNvPr id="26" name="Text 24"/>
          <p:cNvSpPr/>
          <p:nvPr/>
        </p:nvSpPr>
        <p:spPr>
          <a:xfrm>
            <a:off x="100584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0.58</a:t>
            </a:r>
            <a:endParaRPr lang="en-US" sz="1000"/>
          </a:p>
        </p:txBody>
      </p:sp>
      <p:sp>
        <p:nvSpPr>
          <p:cNvPr id="27" name="Text 25"/>
          <p:cNvSpPr/>
          <p:nvPr/>
        </p:nvSpPr>
        <p:spPr>
          <a:xfrm>
            <a:off x="169164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1000"/>
          </a:p>
        </p:txBody>
      </p:sp>
      <p:sp>
        <p:nvSpPr>
          <p:cNvPr id="28" name="Text 26"/>
          <p:cNvSpPr/>
          <p:nvPr/>
        </p:nvSpPr>
        <p:spPr>
          <a:xfrm>
            <a:off x="237744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11.77%</a:t>
            </a:r>
            <a:endParaRPr lang="en-US" sz="1000"/>
          </a:p>
        </p:txBody>
      </p:sp>
      <p:sp>
        <p:nvSpPr>
          <p:cNvPr id="29" name="Shape 27"/>
          <p:cNvSpPr/>
          <p:nvPr/>
        </p:nvSpPr>
        <p:spPr>
          <a:xfrm>
            <a:off x="274320" y="245059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0" name="Text 28"/>
          <p:cNvSpPr/>
          <p:nvPr/>
        </p:nvSpPr>
        <p:spPr>
          <a:xfrm>
            <a:off x="32004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000"/>
          </a:p>
        </p:txBody>
      </p:sp>
      <p:sp>
        <p:nvSpPr>
          <p:cNvPr id="31" name="Text 29"/>
          <p:cNvSpPr/>
          <p:nvPr/>
        </p:nvSpPr>
        <p:spPr>
          <a:xfrm>
            <a:off x="100584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0.37</a:t>
            </a:r>
            <a:endParaRPr lang="en-US" sz="1000"/>
          </a:p>
        </p:txBody>
      </p:sp>
      <p:sp>
        <p:nvSpPr>
          <p:cNvPr id="32" name="Text 30"/>
          <p:cNvSpPr/>
          <p:nvPr/>
        </p:nvSpPr>
        <p:spPr>
          <a:xfrm>
            <a:off x="169164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</a:t>
            </a:r>
            <a:endParaRPr lang="en-US" sz="1000"/>
          </a:p>
        </p:txBody>
      </p:sp>
      <p:sp>
        <p:nvSpPr>
          <p:cNvPr id="33" name="Text 31"/>
          <p:cNvSpPr/>
          <p:nvPr/>
        </p:nvSpPr>
        <p:spPr>
          <a:xfrm>
            <a:off x="237744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7.17%</a:t>
            </a:r>
            <a:endParaRPr lang="en-US" sz="1000"/>
          </a:p>
        </p:txBody>
      </p:sp>
      <p:sp>
        <p:nvSpPr>
          <p:cNvPr id="34" name="Text 32"/>
          <p:cNvSpPr/>
          <p:nvPr/>
        </p:nvSpPr>
        <p:spPr>
          <a:xfrm>
            <a:off x="27432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captures nonlinear temporal deps.</a:t>
            </a:r>
            <a:endParaRPr lang="en-US" sz="1100"/>
          </a:p>
        </p:txBody>
      </p:sp>
      <p:sp>
        <p:nvSpPr>
          <p:cNvPr id="35" name="Text 33"/>
          <p:cNvSpPr/>
          <p:nvPr/>
        </p:nvSpPr>
        <p:spPr>
          <a:xfrm>
            <a:off x="3200400" y="8229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0388.HK (HKEX)</a:t>
            </a:r>
            <a:endParaRPr lang="en-US" sz="1200"/>
          </a:p>
        </p:txBody>
      </p:sp>
      <p:sp>
        <p:nvSpPr>
          <p:cNvPr id="36" name="Text 34"/>
          <p:cNvSpPr/>
          <p:nvPr/>
        </p:nvSpPr>
        <p:spPr>
          <a:xfrm>
            <a:off x="3200400" y="107899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Random Forest</a:t>
            </a:r>
            <a:endParaRPr lang="en-US" sz="1100"/>
          </a:p>
        </p:txBody>
      </p:sp>
      <p:sp>
        <p:nvSpPr>
          <p:cNvPr id="37" name="Shape 35"/>
          <p:cNvSpPr/>
          <p:nvPr/>
        </p:nvSpPr>
        <p:spPr>
          <a:xfrm>
            <a:off x="3200400" y="1371600"/>
            <a:ext cx="2788920" cy="256032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8" name="Text 36"/>
          <p:cNvSpPr/>
          <p:nvPr/>
        </p:nvSpPr>
        <p:spPr>
          <a:xfrm>
            <a:off x="324612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/>
          </a:p>
        </p:txBody>
      </p:sp>
      <p:sp>
        <p:nvSpPr>
          <p:cNvPr id="39" name="Text 37"/>
          <p:cNvSpPr/>
          <p:nvPr/>
        </p:nvSpPr>
        <p:spPr>
          <a:xfrm>
            <a:off x="393192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00"/>
          </a:p>
        </p:txBody>
      </p:sp>
      <p:sp>
        <p:nvSpPr>
          <p:cNvPr id="40" name="Text 38"/>
          <p:cNvSpPr/>
          <p:nvPr/>
        </p:nvSpPr>
        <p:spPr>
          <a:xfrm>
            <a:off x="461772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/>
          </a:p>
        </p:txBody>
      </p:sp>
      <p:sp>
        <p:nvSpPr>
          <p:cNvPr id="41" name="Text 39"/>
          <p:cNvSpPr/>
          <p:nvPr/>
        </p:nvSpPr>
        <p:spPr>
          <a:xfrm>
            <a:off x="530352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900"/>
          </a:p>
        </p:txBody>
      </p:sp>
      <p:sp>
        <p:nvSpPr>
          <p:cNvPr id="42" name="Shape 40"/>
          <p:cNvSpPr/>
          <p:nvPr/>
        </p:nvSpPr>
        <p:spPr>
          <a:xfrm>
            <a:off x="3200400" y="1627632"/>
            <a:ext cx="278892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43" name="Text 41"/>
          <p:cNvSpPr/>
          <p:nvPr/>
        </p:nvSpPr>
        <p:spPr>
          <a:xfrm>
            <a:off x="324612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000"/>
          </a:p>
        </p:txBody>
      </p:sp>
      <p:sp>
        <p:nvSpPr>
          <p:cNvPr id="44" name="Text 42"/>
          <p:cNvSpPr/>
          <p:nvPr/>
        </p:nvSpPr>
        <p:spPr>
          <a:xfrm>
            <a:off x="393192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21.59</a:t>
            </a:r>
            <a:endParaRPr lang="en-US" sz="1000"/>
          </a:p>
        </p:txBody>
      </p:sp>
      <p:sp>
        <p:nvSpPr>
          <p:cNvPr id="45" name="Text 43"/>
          <p:cNvSpPr/>
          <p:nvPr/>
        </p:nvSpPr>
        <p:spPr>
          <a:xfrm>
            <a:off x="461772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17.65</a:t>
            </a:r>
            <a:endParaRPr lang="en-US" sz="1000"/>
          </a:p>
        </p:txBody>
      </p:sp>
      <p:sp>
        <p:nvSpPr>
          <p:cNvPr id="46" name="Text 44"/>
          <p:cNvSpPr/>
          <p:nvPr/>
        </p:nvSpPr>
        <p:spPr>
          <a:xfrm>
            <a:off x="530352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4.43%</a:t>
            </a:r>
            <a:endParaRPr lang="en-US" sz="1000"/>
          </a:p>
        </p:txBody>
      </p:sp>
      <p:sp>
        <p:nvSpPr>
          <p:cNvPr id="47" name="Shape 45"/>
          <p:cNvSpPr/>
          <p:nvPr/>
        </p:nvSpPr>
        <p:spPr>
          <a:xfrm>
            <a:off x="3200400" y="190195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48" name="Text 46"/>
          <p:cNvSpPr/>
          <p:nvPr/>
        </p:nvSpPr>
        <p:spPr>
          <a:xfrm>
            <a:off x="324612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000"/>
          </a:p>
        </p:txBody>
      </p:sp>
      <p:sp>
        <p:nvSpPr>
          <p:cNvPr id="49" name="Text 47"/>
          <p:cNvSpPr/>
          <p:nvPr/>
        </p:nvSpPr>
        <p:spPr>
          <a:xfrm>
            <a:off x="393192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45.53</a:t>
            </a:r>
            <a:endParaRPr lang="en-US" sz="1000"/>
          </a:p>
        </p:txBody>
      </p:sp>
      <p:sp>
        <p:nvSpPr>
          <p:cNvPr id="50" name="Text 48"/>
          <p:cNvSpPr/>
          <p:nvPr/>
        </p:nvSpPr>
        <p:spPr>
          <a:xfrm>
            <a:off x="461772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44.24</a:t>
            </a:r>
            <a:endParaRPr lang="en-US" sz="1000"/>
          </a:p>
        </p:txBody>
      </p:sp>
      <p:sp>
        <p:nvSpPr>
          <p:cNvPr id="51" name="Text 49"/>
          <p:cNvSpPr/>
          <p:nvPr/>
        </p:nvSpPr>
        <p:spPr>
          <a:xfrm>
            <a:off x="530352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11.38%</a:t>
            </a:r>
            <a:endParaRPr lang="en-US" sz="1000"/>
          </a:p>
        </p:txBody>
      </p:sp>
      <p:sp>
        <p:nvSpPr>
          <p:cNvPr id="52" name="Shape 50"/>
          <p:cNvSpPr/>
          <p:nvPr/>
        </p:nvSpPr>
        <p:spPr>
          <a:xfrm>
            <a:off x="3200400" y="2176272"/>
            <a:ext cx="2788920" cy="27432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53" name="Text 51"/>
          <p:cNvSpPr/>
          <p:nvPr/>
        </p:nvSpPr>
        <p:spPr>
          <a:xfrm>
            <a:off x="324612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/>
          </a:p>
        </p:txBody>
      </p:sp>
      <p:sp>
        <p:nvSpPr>
          <p:cNvPr id="54" name="Text 52"/>
          <p:cNvSpPr/>
          <p:nvPr/>
        </p:nvSpPr>
        <p:spPr>
          <a:xfrm>
            <a:off x="393192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14.89</a:t>
            </a:r>
            <a:endParaRPr lang="en-US" sz="1000"/>
          </a:p>
        </p:txBody>
      </p:sp>
      <p:sp>
        <p:nvSpPr>
          <p:cNvPr id="55" name="Text 53"/>
          <p:cNvSpPr/>
          <p:nvPr/>
        </p:nvSpPr>
        <p:spPr>
          <a:xfrm>
            <a:off x="461772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12.28</a:t>
            </a:r>
            <a:endParaRPr lang="en-US" sz="1000"/>
          </a:p>
        </p:txBody>
      </p:sp>
      <p:sp>
        <p:nvSpPr>
          <p:cNvPr id="56" name="Text 54"/>
          <p:cNvSpPr/>
          <p:nvPr/>
        </p:nvSpPr>
        <p:spPr>
          <a:xfrm>
            <a:off x="530352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3.12%</a:t>
            </a:r>
            <a:endParaRPr lang="en-US" sz="1000"/>
          </a:p>
        </p:txBody>
      </p:sp>
      <p:sp>
        <p:nvSpPr>
          <p:cNvPr id="57" name="Shape 55"/>
          <p:cNvSpPr/>
          <p:nvPr/>
        </p:nvSpPr>
        <p:spPr>
          <a:xfrm>
            <a:off x="3200400" y="245059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58" name="Text 56"/>
          <p:cNvSpPr/>
          <p:nvPr/>
        </p:nvSpPr>
        <p:spPr>
          <a:xfrm>
            <a:off x="324612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000"/>
          </a:p>
        </p:txBody>
      </p:sp>
      <p:sp>
        <p:nvSpPr>
          <p:cNvPr id="59" name="Text 57"/>
          <p:cNvSpPr/>
          <p:nvPr/>
        </p:nvSpPr>
        <p:spPr>
          <a:xfrm>
            <a:off x="393192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30.66</a:t>
            </a:r>
            <a:endParaRPr lang="en-US" sz="1000"/>
          </a:p>
        </p:txBody>
      </p:sp>
      <p:sp>
        <p:nvSpPr>
          <p:cNvPr id="60" name="Text 58"/>
          <p:cNvSpPr/>
          <p:nvPr/>
        </p:nvSpPr>
        <p:spPr>
          <a:xfrm>
            <a:off x="461772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27.26</a:t>
            </a:r>
            <a:endParaRPr lang="en-US" sz="1000"/>
          </a:p>
        </p:txBody>
      </p:sp>
      <p:sp>
        <p:nvSpPr>
          <p:cNvPr id="61" name="Text 59"/>
          <p:cNvSpPr/>
          <p:nvPr/>
        </p:nvSpPr>
        <p:spPr>
          <a:xfrm>
            <a:off x="530352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7.01%</a:t>
            </a:r>
            <a:endParaRPr lang="en-US" sz="1000"/>
          </a:p>
        </p:txBody>
      </p:sp>
      <p:sp>
        <p:nvSpPr>
          <p:cNvPr id="62" name="Text 60"/>
          <p:cNvSpPr/>
          <p:nvPr/>
        </p:nvSpPr>
        <p:spPr>
          <a:xfrm>
            <a:off x="320040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learning most effective</a:t>
            </a:r>
            <a:endParaRPr lang="en-US" sz="1100"/>
          </a:p>
        </p:txBody>
      </p:sp>
      <p:sp>
        <p:nvSpPr>
          <p:cNvPr id="63" name="Text 61"/>
          <p:cNvSpPr/>
          <p:nvPr/>
        </p:nvSpPr>
        <p:spPr>
          <a:xfrm>
            <a:off x="6126480" y="8229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0005.HK (HSBC)</a:t>
            </a:r>
            <a:endParaRPr lang="en-US" sz="1200"/>
          </a:p>
        </p:txBody>
      </p:sp>
      <p:sp>
        <p:nvSpPr>
          <p:cNvPr id="64" name="Text 62"/>
          <p:cNvSpPr/>
          <p:nvPr/>
        </p:nvSpPr>
        <p:spPr>
          <a:xfrm>
            <a:off x="6126480" y="107899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Random Forest</a:t>
            </a:r>
            <a:endParaRPr lang="en-US" sz="1100"/>
          </a:p>
        </p:txBody>
      </p:sp>
      <p:sp>
        <p:nvSpPr>
          <p:cNvPr id="65" name="Shape 63"/>
          <p:cNvSpPr/>
          <p:nvPr/>
        </p:nvSpPr>
        <p:spPr>
          <a:xfrm>
            <a:off x="6126480" y="1371600"/>
            <a:ext cx="2788920" cy="256032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66" name="Text 64"/>
          <p:cNvSpPr/>
          <p:nvPr/>
        </p:nvSpPr>
        <p:spPr>
          <a:xfrm>
            <a:off x="617220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/>
          </a:p>
        </p:txBody>
      </p:sp>
      <p:sp>
        <p:nvSpPr>
          <p:cNvPr id="67" name="Text 65"/>
          <p:cNvSpPr/>
          <p:nvPr/>
        </p:nvSpPr>
        <p:spPr>
          <a:xfrm>
            <a:off x="685800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00"/>
          </a:p>
        </p:txBody>
      </p:sp>
      <p:sp>
        <p:nvSpPr>
          <p:cNvPr id="68" name="Text 66"/>
          <p:cNvSpPr/>
          <p:nvPr/>
        </p:nvSpPr>
        <p:spPr>
          <a:xfrm>
            <a:off x="754380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/>
          </a:p>
        </p:txBody>
      </p:sp>
      <p:sp>
        <p:nvSpPr>
          <p:cNvPr id="69" name="Text 67"/>
          <p:cNvSpPr/>
          <p:nvPr/>
        </p:nvSpPr>
        <p:spPr>
          <a:xfrm>
            <a:off x="822960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900"/>
          </a:p>
        </p:txBody>
      </p:sp>
      <p:sp>
        <p:nvSpPr>
          <p:cNvPr id="70" name="Shape 68"/>
          <p:cNvSpPr/>
          <p:nvPr/>
        </p:nvSpPr>
        <p:spPr>
          <a:xfrm>
            <a:off x="6126480" y="1627632"/>
            <a:ext cx="278892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71" name="Text 69"/>
          <p:cNvSpPr/>
          <p:nvPr/>
        </p:nvSpPr>
        <p:spPr>
          <a:xfrm>
            <a:off x="617220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000"/>
          </a:p>
        </p:txBody>
      </p:sp>
      <p:sp>
        <p:nvSpPr>
          <p:cNvPr id="72" name="Text 70"/>
          <p:cNvSpPr/>
          <p:nvPr/>
        </p:nvSpPr>
        <p:spPr>
          <a:xfrm>
            <a:off x="685800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37.83</a:t>
            </a:r>
            <a:endParaRPr lang="en-US" sz="1000"/>
          </a:p>
        </p:txBody>
      </p:sp>
      <p:sp>
        <p:nvSpPr>
          <p:cNvPr id="73" name="Text 71"/>
          <p:cNvSpPr/>
          <p:nvPr/>
        </p:nvSpPr>
        <p:spPr>
          <a:xfrm>
            <a:off x="754380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36.49</a:t>
            </a:r>
            <a:endParaRPr lang="en-US" sz="1000"/>
          </a:p>
        </p:txBody>
      </p:sp>
      <p:sp>
        <p:nvSpPr>
          <p:cNvPr id="74" name="Text 72"/>
          <p:cNvSpPr/>
          <p:nvPr/>
        </p:nvSpPr>
        <p:spPr>
          <a:xfrm>
            <a:off x="822960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25.01%</a:t>
            </a:r>
            <a:endParaRPr lang="en-US" sz="1000"/>
          </a:p>
        </p:txBody>
      </p:sp>
      <p:sp>
        <p:nvSpPr>
          <p:cNvPr id="75" name="Shape 73"/>
          <p:cNvSpPr/>
          <p:nvPr/>
        </p:nvSpPr>
        <p:spPr>
          <a:xfrm>
            <a:off x="6126480" y="190195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76" name="Text 74"/>
          <p:cNvSpPr/>
          <p:nvPr/>
        </p:nvSpPr>
        <p:spPr>
          <a:xfrm>
            <a:off x="617220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000"/>
          </a:p>
        </p:txBody>
      </p:sp>
      <p:sp>
        <p:nvSpPr>
          <p:cNvPr id="77" name="Text 75"/>
          <p:cNvSpPr/>
          <p:nvPr/>
        </p:nvSpPr>
        <p:spPr>
          <a:xfrm>
            <a:off x="685800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11.25</a:t>
            </a:r>
            <a:endParaRPr lang="en-US" sz="1000"/>
          </a:p>
        </p:txBody>
      </p:sp>
      <p:sp>
        <p:nvSpPr>
          <p:cNvPr id="78" name="Text 76"/>
          <p:cNvSpPr/>
          <p:nvPr/>
        </p:nvSpPr>
        <p:spPr>
          <a:xfrm>
            <a:off x="754380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11.14</a:t>
            </a:r>
            <a:endParaRPr lang="en-US" sz="1000"/>
          </a:p>
        </p:txBody>
      </p:sp>
      <p:sp>
        <p:nvSpPr>
          <p:cNvPr id="79" name="Text 77"/>
          <p:cNvSpPr/>
          <p:nvPr/>
        </p:nvSpPr>
        <p:spPr>
          <a:xfrm>
            <a:off x="822960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12.56%</a:t>
            </a:r>
            <a:endParaRPr lang="en-US" sz="1000"/>
          </a:p>
        </p:txBody>
      </p:sp>
      <p:sp>
        <p:nvSpPr>
          <p:cNvPr id="80" name="Shape 78"/>
          <p:cNvSpPr/>
          <p:nvPr/>
        </p:nvSpPr>
        <p:spPr>
          <a:xfrm>
            <a:off x="6126480" y="2176272"/>
            <a:ext cx="2788920" cy="27432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81" name="Text 79"/>
          <p:cNvSpPr/>
          <p:nvPr/>
        </p:nvSpPr>
        <p:spPr>
          <a:xfrm>
            <a:off x="617220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/>
          </a:p>
        </p:txBody>
      </p:sp>
      <p:sp>
        <p:nvSpPr>
          <p:cNvPr id="82" name="Text 80"/>
          <p:cNvSpPr/>
          <p:nvPr/>
        </p:nvSpPr>
        <p:spPr>
          <a:xfrm>
            <a:off x="685800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8.21</a:t>
            </a:r>
            <a:endParaRPr lang="en-US" sz="1000"/>
          </a:p>
        </p:txBody>
      </p:sp>
      <p:sp>
        <p:nvSpPr>
          <p:cNvPr id="83" name="Text 81"/>
          <p:cNvSpPr/>
          <p:nvPr/>
        </p:nvSpPr>
        <p:spPr>
          <a:xfrm>
            <a:off x="754380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6.76</a:t>
            </a:r>
            <a:endParaRPr lang="en-US" sz="1000"/>
          </a:p>
        </p:txBody>
      </p:sp>
      <p:sp>
        <p:nvSpPr>
          <p:cNvPr id="84" name="Text 82"/>
          <p:cNvSpPr/>
          <p:nvPr/>
        </p:nvSpPr>
        <p:spPr>
          <a:xfrm>
            <a:off x="822960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4.55%</a:t>
            </a:r>
            <a:endParaRPr lang="en-US" sz="1000"/>
          </a:p>
        </p:txBody>
      </p:sp>
      <p:sp>
        <p:nvSpPr>
          <p:cNvPr id="85" name="Shape 83"/>
          <p:cNvSpPr/>
          <p:nvPr/>
        </p:nvSpPr>
        <p:spPr>
          <a:xfrm>
            <a:off x="6126480" y="245059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86" name="Text 84"/>
          <p:cNvSpPr/>
          <p:nvPr/>
        </p:nvSpPr>
        <p:spPr>
          <a:xfrm>
            <a:off x="617220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000"/>
          </a:p>
        </p:txBody>
      </p:sp>
      <p:sp>
        <p:nvSpPr>
          <p:cNvPr id="87" name="Text 85"/>
          <p:cNvSpPr/>
          <p:nvPr/>
        </p:nvSpPr>
        <p:spPr>
          <a:xfrm>
            <a:off x="685800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13.88</a:t>
            </a:r>
            <a:endParaRPr lang="en-US" sz="1000"/>
          </a:p>
        </p:txBody>
      </p:sp>
      <p:sp>
        <p:nvSpPr>
          <p:cNvPr id="88" name="Text 86"/>
          <p:cNvSpPr/>
          <p:nvPr/>
        </p:nvSpPr>
        <p:spPr>
          <a:xfrm>
            <a:off x="754380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11.82</a:t>
            </a:r>
            <a:endParaRPr lang="en-US" sz="1000"/>
          </a:p>
        </p:txBody>
      </p:sp>
      <p:sp>
        <p:nvSpPr>
          <p:cNvPr id="89" name="Text 87"/>
          <p:cNvSpPr/>
          <p:nvPr/>
        </p:nvSpPr>
        <p:spPr>
          <a:xfrm>
            <a:off x="822960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7.81%</a:t>
            </a:r>
            <a:endParaRPr lang="en-US" sz="1000"/>
          </a:p>
        </p:txBody>
      </p:sp>
      <p:sp>
        <p:nvSpPr>
          <p:cNvPr id="90" name="Text 88"/>
          <p:cNvSpPr/>
          <p:nvPr/>
        </p:nvSpPr>
        <p:spPr>
          <a:xfrm>
            <a:off x="612648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best across all metrics</a:t>
            </a:r>
            <a:endParaRPr lang="en-US" sz="11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340CBB6C-88DC-E077-6CD8-8D8F747A3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1862" y="3183112"/>
            <a:ext cx="2404383" cy="1718583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1298B086-FBD4-FAFE-23F1-CF23FB13BB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6596" y="3182029"/>
            <a:ext cx="2404381" cy="1736727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FF9C41EA-2E52-2203-BDCE-F49133415E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347" y="3108702"/>
            <a:ext cx="2793086" cy="17157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 Recommendations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8" name="Text 6"/>
          <p:cNvSpPr/>
          <p:nvPr/>
        </p:nvSpPr>
        <p:spPr>
          <a:xfrm>
            <a:off x="457200" y="94183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1005840" y="8686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asset-type-based model selection rather than a single methodology across all securities.</a:t>
            </a:r>
            <a:endParaRPr lang="en-US" sz="1400"/>
          </a:p>
        </p:txBody>
      </p:sp>
      <p:sp>
        <p:nvSpPr>
          <p:cNvPr id="10" name="Shape 8"/>
          <p:cNvSpPr/>
          <p:nvPr/>
        </p:nvSpPr>
        <p:spPr>
          <a:xfrm>
            <a:off x="457200" y="150876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1" name="Text 9"/>
          <p:cNvSpPr/>
          <p:nvPr/>
        </p:nvSpPr>
        <p:spPr>
          <a:xfrm>
            <a:off x="457200" y="153619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1005840" y="1463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Random Forest as the default production model — best overall balance of RMSE, MAE and MAPE.</a:t>
            </a:r>
            <a:endParaRPr lang="en-US" sz="1400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4" name="Text 12"/>
          <p:cNvSpPr/>
          <p:nvPr/>
        </p:nvSpPr>
        <p:spPr>
          <a:xfrm>
            <a:off x="457200" y="213055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1005840" y="20574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ARIMA as benchmark / validation model for market indices (strong on S&amp;P 500).</a:t>
            </a:r>
            <a:endParaRPr lang="en-US" sz="140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7" name="Text 15"/>
          <p:cNvSpPr/>
          <p:nvPr/>
        </p:nvSpPr>
        <p:spPr>
          <a:xfrm>
            <a:off x="457200" y="272491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LSTM selectively for stocks with pronounced nonlinear temporal dependencies (e.g., 0386.HK).</a:t>
            </a:r>
            <a:endParaRPr lang="en-US" sz="1400"/>
          </a:p>
        </p:txBody>
      </p:sp>
      <p:sp>
        <p:nvSpPr>
          <p:cNvPr id="19" name="Shape 17"/>
          <p:cNvSpPr/>
          <p:nvPr/>
        </p:nvSpPr>
        <p:spPr>
          <a:xfrm>
            <a:off x="457200" y="329184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0" name="Text 18"/>
          <p:cNvSpPr/>
          <p:nvPr/>
        </p:nvSpPr>
        <p:spPr>
          <a:xfrm>
            <a:off x="457200" y="331927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1005840" y="32461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external macro indicators, sector sentiment, and implied volatility to enhance predictive breadth.</a:t>
            </a:r>
            <a:endParaRPr lang="en-US" sz="140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3" name="Text 21"/>
          <p:cNvSpPr/>
          <p:nvPr/>
        </p:nvSpPr>
        <p:spPr>
          <a:xfrm>
            <a:off x="457200" y="391363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/>
          </a:p>
        </p:txBody>
      </p:sp>
      <p:sp>
        <p:nvSpPr>
          <p:cNvPr id="24" name="Text 22"/>
          <p:cNvSpPr/>
          <p:nvPr/>
        </p:nvSpPr>
        <p:spPr>
          <a:xfrm>
            <a:off x="1005840" y="38404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dynamically and early-stop to prevent overfitting; build weighted portfolios and track cumulative returns.</a:t>
            </a:r>
            <a:endParaRPr lang="en-US" sz="1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 Conclusion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Forecasting performance is asset-dependent — no universal winner.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548640" y="16002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Random Forest delivered the strongest overall capability across most assets.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548640" y="1965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ARIMA remains highly competitive for index-level forecasting.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548640" y="2331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LSTM excels where nonlinear temporal relationships dominate.</a:t>
            </a:r>
            <a:endParaRPr lang="en-US" sz="140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91440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EE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Approach</a:t>
            </a:r>
            <a:endParaRPr lang="en-US" sz="1300"/>
          </a:p>
        </p:txBody>
      </p:sp>
      <p:sp>
        <p:nvSpPr>
          <p:cNvPr id="14" name="Text 12"/>
          <p:cNvSpPr/>
          <p:nvPr/>
        </p:nvSpPr>
        <p:spPr>
          <a:xfrm>
            <a:off x="640080" y="32461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framework combining ARIMA + Random Forest + LSTM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accuracy, robustness across regimes, and decision quality.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 ·  Questions Welcome</a:t>
            </a:r>
            <a:endParaRPr lang="en-US"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D7D858-D0D1-F214-4D6F-6C9CC1B09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FF22EA-1FF5-8260-6B39-228B8907E148}"/>
              </a:ext>
            </a:extLst>
          </p:cNvPr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024FBE0-C9A5-B918-6CA2-0B641B332163}"/>
              </a:ext>
            </a:extLst>
          </p:cNvPr>
          <p:cNvSpPr/>
          <p:nvPr/>
        </p:nvSpPr>
        <p:spPr>
          <a:xfrm>
            <a:off x="640080" y="128016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>
                <a:latin typeface="Cambria"/>
                <a:ea typeface="Cambria"/>
              </a:rPr>
              <a:t>Appendix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45835DA-3431-FA27-59E2-E7ECC52D1F9E}"/>
              </a:ext>
            </a:extLst>
          </p:cNvPr>
          <p:cNvSpPr/>
          <p:nvPr/>
        </p:nvSpPr>
        <p:spPr>
          <a:xfrm>
            <a:off x="640080" y="39319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>
              <a:solidFill>
                <a:srgbClr val="6B7280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255404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896401-EB3E-0425-5E6B-ED48AD1B2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501F32D-6AE6-4FB4-C664-42E0FDFF80DA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233C106-44D6-BCB3-9557-666D8ECCCF5B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ARIMA (S&amp;P500)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BBD92B7-31BD-2ADA-5A60-6DDB3704B376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AD33625-9FFF-3235-2B9F-36B050AFE41A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04E7212-1202-C00C-3575-8B7FFF8DAA82}"/>
              </a:ext>
            </a:extLst>
          </p:cNvPr>
          <p:cNvSpPr/>
          <p:nvPr/>
        </p:nvSpPr>
        <p:spPr>
          <a:xfrm>
            <a:off x="457200" y="4779893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A5BD6B-5109-2A5A-45B9-987265EA8C23}"/>
              </a:ext>
            </a:extLst>
          </p:cNvPr>
          <p:cNvSpPr/>
          <p:nvPr/>
        </p:nvSpPr>
        <p:spPr>
          <a:xfrm>
            <a:off x="1804573" y="4504523"/>
            <a:ext cx="5951269" cy="27234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5315331-B89C-23BD-9CB2-4C490816E165}"/>
              </a:ext>
            </a:extLst>
          </p:cNvPr>
          <p:cNvGrpSpPr/>
          <p:nvPr/>
        </p:nvGrpSpPr>
        <p:grpSpPr>
          <a:xfrm>
            <a:off x="1401925" y="713331"/>
            <a:ext cx="6516125" cy="4067246"/>
            <a:chOff x="1401925" y="713331"/>
            <a:chExt cx="6516125" cy="406724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2C37D70-595E-9A39-13BC-A431F4085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01925" y="713331"/>
              <a:ext cx="6516125" cy="4067246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23F76E6-CCCC-0239-3531-8A58566804C7}"/>
                </a:ext>
              </a:extLst>
            </p:cNvPr>
            <p:cNvSpPr/>
            <p:nvPr/>
          </p:nvSpPr>
          <p:spPr>
            <a:xfrm>
              <a:off x="5493569" y="894729"/>
              <a:ext cx="694172" cy="12307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6952404-EC23-D97C-FA98-4A6F8A1B86FD}"/>
                </a:ext>
              </a:extLst>
            </p:cNvPr>
            <p:cNvSpPr txBox="1"/>
            <p:nvPr/>
          </p:nvSpPr>
          <p:spPr>
            <a:xfrm>
              <a:off x="1601816" y="4503795"/>
              <a:ext cx="6306806" cy="21544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800">
                  <a:ea typeface="Calibri"/>
                  <a:cs typeface="Calibri"/>
                </a:rPr>
                <a:t>          2023-01                2023-07                  2024-01                 2024-07               2025-01                   2025-07               2026-01                 2026-07       2026-09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4207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23193-B03F-BADA-9D68-76F353BB3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5D5E3E3-8294-EEC6-C400-D0541E841102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F55AA97-7C02-82AA-E1E0-3C86FA183494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Random Forest (S&amp;P500)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13AB8D7-653A-885C-078C-36B1E5FA32F2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AC498F3-35B8-58EE-1C26-BAAA20A50BFB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78619D7-516F-080A-1662-7EB1A553A6E4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07064A3-ABE4-BC43-F85F-69CFFE6FA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638" y="699135"/>
            <a:ext cx="6555105" cy="385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8083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3CA193-F08E-C5C3-BC37-766C5BCE8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D57CDD1-A798-8D59-5A5F-904EC36378C0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8B5E7EB-5A46-F15B-FEB5-0ECDC9D12ED6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Linear Regression (HIS)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688547F-C903-EA42-D995-970A0495A019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39ED20B-AD46-9D49-F4F4-420F4B60DFF6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7234160-ECAA-642F-2E60-EE13146F4C7F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404CFA2-D922-8940-DE21-0A542E39DF41}"/>
              </a:ext>
            </a:extLst>
          </p:cNvPr>
          <p:cNvSpPr txBox="1"/>
          <p:nvPr/>
        </p:nvSpPr>
        <p:spPr>
          <a:xfrm>
            <a:off x="271811" y="4516244"/>
            <a:ext cx="866310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/>
              <a:t>Extreme Data Removed (Daily Return &gt; 2%) No. of Extreme Data Removed : 109</a:t>
            </a:r>
            <a:endParaRPr lang="zh-TW" altLang="en-US">
              <a:cs typeface="Calibri" panose="020F0502020204030204"/>
            </a:endParaRPr>
          </a:p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3C925707-C206-C864-7951-5BC2760AC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512" y="642366"/>
            <a:ext cx="8570976" cy="385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8099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682BDC-4B1D-D71D-E5E6-75953CF7F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7A00614-F77E-2892-2CD5-1555AC80B50A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6F21313-1986-FC73-5A99-320892F29ABA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LSTM (0386.HK)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940A638-24E0-5336-B82A-5262CBF44F12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6052DEA-2BBE-C65C-4323-2B05EE7BF371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E8512D0-E975-F957-FFBC-E5A5EBCB677C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45FE0B-F6A3-5E01-30D4-6533AC1CC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246" y="658032"/>
            <a:ext cx="6667663" cy="4079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0601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DDF9A7-EA53-D908-8691-4A2AD00B1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54C8298-E9E7-2A3E-213C-3F97E3CBE59E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828A961-E34A-28F6-A2D4-ADEE7DC564BF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Random Forest (0388.HK)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35188E4-A6BF-BE74-6072-CB3C092EF37C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C51D128-C3C8-887F-CF16-E01A2B2E7ECD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EC26373-BB1D-AC7F-7AF8-D2F15175EB0C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7A2155-554D-E4F1-667D-C4A37FDB0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666" y="730704"/>
            <a:ext cx="6250667" cy="3682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9149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20EDD-2820-1F34-C497-F1D689F6D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112E078-7BE5-8010-5EC2-0251F35D5AB3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66C056C-98AB-33DF-589A-6963B8064E3E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Random Forest (0005.HK)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9EECAD0-1933-0700-E1AE-E760AA78AFEE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C1A5D65-C103-5A49-BD6C-FD8E9E86DF07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42AA8E0-F3A1-4C9E-3B49-DD50C3403546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0C553F-D61A-89FE-5C0D-0F95864289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666" y="839561"/>
            <a:ext cx="6250669" cy="3754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32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1466</Words>
  <Application>Microsoft Office PowerPoint</Application>
  <PresentationFormat>如螢幕大小 (16:9)</PresentationFormat>
  <Paragraphs>375</Paragraphs>
  <Slides>21</Slides>
  <Notes>21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2" baseType="lpstr"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Pricing Forecast Capability Assessment</dc:title>
  <dc:subject>Linear Regression, ARIMA, Random Forest and LSTM Models</dc:subject>
  <dc:creator>Cheng Ying Yu, Ku Ho Kat, Pong Zhun Log, Wong Sai Cheong</dc:creator>
  <cp:lastModifiedBy>zenbook aku</cp:lastModifiedBy>
  <cp:revision>41</cp:revision>
  <dcterms:created xsi:type="dcterms:W3CDTF">2026-10-13T07:30:48Z</dcterms:created>
  <dcterms:modified xsi:type="dcterms:W3CDTF">2026-10-20T10:17:49Z</dcterms:modified>
</cp:coreProperties>
</file>